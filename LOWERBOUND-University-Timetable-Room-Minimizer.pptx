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true" autoCompressPictures="0" embedTrueTypeFonts="true">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1695" cy="6858000"/>
  <p:notesSz cx="6858000" cy="12191695"/>
  <p:embeddedFontLst>
    <p:embeddedFont>
      <p:font typeface="Bebas Neue"/>
      <p:regular r:id="rId201314"/>
    </p:embeddedFont>
    <p:embeddedFont>
      <p:font typeface="IBM Plex Sans"/>
      <p:regular r:id="rId201315"/>
    </p:embeddedFont>
    <p:embeddedFont>
      <p:font typeface="IBM Plex Sans SemiBold"/>
      <p:regular r:id="rId201316"/>
    </p:embeddedFont>
    <p:embeddedFont>
      <p:font typeface="IBM Plex Sans Bold"/>
      <p:regular r:id="rId201317"/>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 Id="rId201314" Target="fonts/201314.fntdata" Type="http://schemas.openxmlformats.org/officeDocument/2006/relationships/font"/><Relationship Id="rId201315" Target="fonts/201315.fntdata" Type="http://schemas.openxmlformats.org/officeDocument/2006/relationships/font"/><Relationship Id="rId201316" Target="fonts/201316.fntdata" Type="http://schemas.openxmlformats.org/officeDocument/2006/relationships/font"/><Relationship Id="rId201317" Target="fonts/201317.fntdata" Type="http://schemas.openxmlformats.org/officeDocument/2006/relationships/font"/></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LOWERBOUND schedules 702 university classes across 36 periods using 20 rooms. The lower bound is 20, so the final gap is 0.
This defense explains the model, algorithm, implementation evidence, and why the result is optimal.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goal is to schedule all classes without section or teacher conflicts while minimizing classrooms.
The input contains 27 sections, 49 teachers, 26 classes per section per week, and 36 periods. The output assigns every class to a period and room and proves minimality.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Feasibility requires distinct periods for classes sharing a section or teacher, and distinct rooms for classes sharing a period.
The instance has 702 classes, 36 periods, 27 sections, and 49 teachers. The implementation also handles malformed, empty, overfull, stuck, and special grouped inputs.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class becomes a vertex, and shared section or teacher membership creates a conflict edge. Periods are colors, while rooms are determined by the largest color class.
The lower bound is the ceiling of 702 divided by 36, which is 20. DSatur, repair, and polish are used to reach that bound; unrelated algorithmic structures are not used.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DSatur repeatedly chooses the uncolored class with highest saturation and then degree, assigning the least-loaded free period.
If the lower bound is not reached, repair uses ejection chains and polish without increasing the busiest period. Seeded restarts continue the search; rooms are assigned after periods are fixed, and the result is verified.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DSatur runs in O(n² + E), with n steps scanning up to n vertices and neighbor saturation updates contributing O(E).
Repair and polish are capped at 20,000 and 5,000 iterations. Other stages include fill, Welsh–Powell, room assignment, and linear verification, while the 12,345 edges are never stored.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implementation is a TypeScript engine running in the browser with four coloring methods, repair, polish, room assignment, and verification. Its random seed is fixed at 7.
Coverage includes the normal dataset, random and maximum cases, malformed and overfull inputs, a stuck greedy solver, and unavailable-day cases. There are 39 automated tests, including an exact-match check with the original engine.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Fill in order uses 27 rooms, while Welsh–Powell, DSatur, and LOWERBOUND all reach 20 rooms. The result moves from 27 to 20 rooms, reduces empty room-periods from 270 to 18, and frees 7 classrooms.
All 702 classes are placed without section, teacher, or room clashes, so feasibility plus equality with the lower bound proves optimality. Incremental repair preserves 20 rooms after Dr. Harish Kumar is absent on Monday, while room capacity is not modelled and labs are single periods.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2-1.png"/><Relationship Id="rId3"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bg>
      <p:bgPr>
        <a:solidFill>
          <a:srgbClr val="1D2A25"/>
        </a:solidFill>
      </p:bgPr>
    </p:bg>
    <p:spTree>
      <p:nvGrpSpPr>
        <p:cNvPr id="1" name=""/>
        <p:cNvGrpSpPr/>
        <p:nvPr/>
      </p:nvGrpSpPr>
      <p:grpSpPr>
        <a:xfrm>
          <a:off x="0" y="0"/>
          <a:ext cx="0" cy="0"/>
          <a:chOff x="0" y="0"/>
          <a:chExt cx="0" cy="0"/>
        </a:xfrm>
      </p:grpSpPr>
      <p:pic>
        <p:nvPicPr>
          <p:cNvPr id="2" name="Image 0" descr="preencoded.png">
            <a:hlinkClick r:id="rId2" tooltip=""/>
          </p:cNvPr>
          <p:cNvPicPr>
            <a:picLocks noChangeAspect="1"/>
          </p:cNvPicPr>
          <p:nvPr/>
        </p:nvPicPr>
        <p:blipFill>
          <a:blip r:embed="rId1"/>
          <a:stretch>
            <a:fillRect/>
          </a:stretch>
        </p:blipFill>
        <p:spPr>
          <a:xfrm>
            <a:off x="11076875" y="6558991"/>
            <a:ext cx="1071843" cy="256032"/>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4480507" y="1513880"/>
            <a:ext cx="3230581" cy="235645"/>
          </a:xfrm>
          <a:prstGeom prst="rect">
            <a:avLst/>
          </a:prstGeom>
          <a:noFill/>
          <a:ln/>
        </p:spPr>
        <p:txBody>
          <a:bodyPr wrap="none" lIns="0" tIns="0" rIns="0" bIns="0" rtlCol="0" anchor="t"/>
          <a:lstStyle/>
          <a:p>
            <a:pPr algn="ctr" indent="0" marL="0">
              <a:lnSpc>
                <a:spcPct val="107000"/>
              </a:lnSpc>
              <a:buNone/>
            </a:pPr>
            <a:r>
              <a:rPr lang="en-US" sz="1450" spc="116" kern="100" dirty="0">
                <a:solidFill>
                  <a:srgbClr val="F1CF55"/>
                </a:solidFill>
                <a:latin typeface="IBM Plex Sans" pitchFamily="34" charset="0"/>
                <a:ea typeface="IBM Plex Sans" pitchFamily="34" charset="-122"/>
                <a:cs typeface="IBM Plex Sans" pitchFamily="34" charset="-120"/>
              </a:rPr>
              <a:t>DAA HACKATHON DEFENSE</a:t>
            </a:r>
            <a:endParaRPr lang="en-US" sz="1450" dirty="0"/>
          </a:p>
        </p:txBody>
      </p:sp>
      <p:sp>
        <p:nvSpPr>
          <p:cNvPr id="3" name="Text 1"/>
          <p:cNvSpPr/>
          <p:nvPr/>
        </p:nvSpPr>
        <p:spPr>
          <a:xfrm>
            <a:off x="609585" y="1813024"/>
            <a:ext cx="10972526" cy="493713"/>
          </a:xfrm>
          <a:prstGeom prst="rect">
            <a:avLst/>
          </a:prstGeom>
          <a:noFill/>
          <a:ln/>
        </p:spPr>
        <p:txBody>
          <a:bodyPr wrap="none" lIns="0" tIns="0" rIns="0" bIns="0" rtlCol="0" anchor="t"/>
          <a:lstStyle/>
          <a:p>
            <a:pPr algn="ctr" indent="0" marL="0">
              <a:lnSpc>
                <a:spcPct val="90000"/>
              </a:lnSpc>
              <a:buNone/>
            </a:pPr>
            <a:r>
              <a:rPr lang="en-US" sz="3600" spc="-36" kern="100" dirty="0">
                <a:solidFill>
                  <a:srgbClr val="E6EBE2"/>
                </a:solidFill>
                <a:latin typeface="Bebas Neue" pitchFamily="34" charset="0"/>
                <a:ea typeface="Bebas Neue" pitchFamily="34" charset="-122"/>
                <a:cs typeface="Bebas Neue" pitchFamily="34" charset="-120"/>
              </a:rPr>
              <a:t>LOWERBOUND: University Timetable Room Minimizer</a:t>
            </a:r>
            <a:endParaRPr lang="en-US" sz="3600" dirty="0"/>
          </a:p>
        </p:txBody>
      </p:sp>
      <p:sp>
        <p:nvSpPr>
          <p:cNvPr id="4" name="Text 2"/>
          <p:cNvSpPr/>
          <p:nvPr/>
        </p:nvSpPr>
        <p:spPr>
          <a:xfrm>
            <a:off x="2876081" y="2471241"/>
            <a:ext cx="6439533" cy="325041"/>
          </a:xfrm>
          <a:prstGeom prst="rect">
            <a:avLst/>
          </a:prstGeom>
          <a:noFill/>
          <a:ln/>
        </p:spPr>
        <p:txBody>
          <a:bodyPr wrap="none" lIns="0" tIns="0" rIns="0" bIns="0" rtlCol="0" anchor="t"/>
          <a:lstStyle/>
          <a:p>
            <a:pPr algn="ctr" indent="0" marL="0">
              <a:lnSpc>
                <a:spcPct val="107000"/>
              </a:lnSpc>
              <a:buNone/>
            </a:pPr>
            <a:r>
              <a:rPr lang="en-US" sz="2000" dirty="0">
                <a:solidFill>
                  <a:srgbClr val="E6EBE2"/>
                </a:solidFill>
                <a:latin typeface="IBM Plex Sans" pitchFamily="34" charset="0"/>
                <a:ea typeface="IBM Plex Sans" pitchFamily="34" charset="-122"/>
                <a:cs typeface="IBM Plex Sans" pitchFamily="34" charset="-120"/>
              </a:rPr>
              <a:t>A graph-coloring solution with a proof of optimality.</a:t>
            </a:r>
            <a:endParaRPr lang="en-US" sz="2000" dirty="0"/>
          </a:p>
        </p:txBody>
      </p:sp>
      <p:sp>
        <p:nvSpPr>
          <p:cNvPr id="5" name="Shape 3"/>
          <p:cNvSpPr/>
          <p:nvPr/>
        </p:nvSpPr>
        <p:spPr>
          <a:xfrm>
            <a:off x="1981150" y="2997895"/>
            <a:ext cx="8229394" cy="31651"/>
          </a:xfrm>
          <a:prstGeom prst="roundRect">
            <a:avLst>
              <a:gd name="adj" fmla="val 49998"/>
            </a:avLst>
          </a:prstGeom>
          <a:solidFill>
            <a:srgbClr val="FFFFFF">
              <a:alpha val="24000"/>
            </a:srgbClr>
          </a:solidFill>
          <a:ln/>
        </p:spPr>
      </p:sp>
      <p:sp>
        <p:nvSpPr>
          <p:cNvPr id="6" name="Text 4"/>
          <p:cNvSpPr/>
          <p:nvPr/>
        </p:nvSpPr>
        <p:spPr>
          <a:xfrm>
            <a:off x="609535" y="3358257"/>
            <a:ext cx="10972526" cy="1066800"/>
          </a:xfrm>
          <a:prstGeom prst="rect">
            <a:avLst/>
          </a:prstGeom>
          <a:noFill/>
          <a:ln/>
        </p:spPr>
        <p:txBody>
          <a:bodyPr wrap="none" lIns="0" tIns="0" rIns="0" bIns="0" rtlCol="0" anchor="t"/>
          <a:lstStyle/>
          <a:p>
            <a:pPr algn="ctr" indent="0" marL="0">
              <a:lnSpc>
                <a:spcPct val="83000"/>
              </a:lnSpc>
              <a:buNone/>
            </a:pPr>
            <a:r>
              <a:rPr lang="en-US" sz="8400" spc="-84" kern="100" dirty="0">
                <a:solidFill>
                  <a:srgbClr val="F1CF55"/>
                </a:solidFill>
                <a:latin typeface="Bebas Neue" pitchFamily="34" charset="0"/>
                <a:ea typeface="Bebas Neue" pitchFamily="34" charset="-122"/>
                <a:cs typeface="Bebas Neue" pitchFamily="34" charset="-120"/>
              </a:rPr>
              <a:t>20</a:t>
            </a:r>
            <a:endParaRPr lang="en-US" sz="8400" dirty="0"/>
          </a:p>
        </p:txBody>
      </p:sp>
      <p:sp>
        <p:nvSpPr>
          <p:cNvPr id="7" name="Text 5"/>
          <p:cNvSpPr/>
          <p:nvPr/>
        </p:nvSpPr>
        <p:spPr>
          <a:xfrm>
            <a:off x="2079771" y="4723705"/>
            <a:ext cx="8032152" cy="325041"/>
          </a:xfrm>
          <a:prstGeom prst="rect">
            <a:avLst/>
          </a:prstGeom>
          <a:noFill/>
          <a:ln/>
        </p:spPr>
        <p:txBody>
          <a:bodyPr wrap="none" lIns="0" tIns="0" rIns="0" bIns="0" rtlCol="0" anchor="t"/>
          <a:lstStyle/>
          <a:p>
            <a:pPr algn="ctr" indent="0" marL="0">
              <a:lnSpc>
                <a:spcPct val="107000"/>
              </a:lnSpc>
              <a:buNone/>
            </a:pPr>
            <a:r>
              <a:rPr lang="en-US" sz="2000" dirty="0">
                <a:solidFill>
                  <a:srgbClr val="E6EBE2"/>
                </a:solidFill>
                <a:latin typeface="IBM Plex Sans" pitchFamily="34" charset="0"/>
                <a:ea typeface="IBM Plex Sans" pitchFamily="34" charset="-122"/>
                <a:cs typeface="IBM Plex Sans" pitchFamily="34" charset="-120"/>
              </a:rPr>
              <a:t>rooms for </a:t>
            </a:r>
            <a:pPr algn="ctr" indent="0" marL="0">
              <a:lnSpc>
                <a:spcPct val="107000"/>
              </a:lnSpc>
              <a:buNone/>
            </a:pPr>
            <a:r>
              <a:rPr lang="en-US" sz="2000" dirty="0">
                <a:solidFill>
                  <a:srgbClr val="F1CF55"/>
                </a:solidFill>
                <a:latin typeface="IBM Plex Sans" pitchFamily="34" charset="0"/>
                <a:ea typeface="IBM Plex Sans" pitchFamily="34" charset="-122"/>
                <a:cs typeface="IBM Plex Sans" pitchFamily="34" charset="-120"/>
              </a:rPr>
              <a:t>702</a:t>
            </a:r>
            <a:pPr algn="ctr" indent="0" marL="0">
              <a:lnSpc>
                <a:spcPct val="107000"/>
              </a:lnSpc>
              <a:buNone/>
            </a:pPr>
            <a:r>
              <a:rPr lang="en-US" sz="2000" dirty="0">
                <a:solidFill>
                  <a:srgbClr val="E6EBE2"/>
                </a:solidFill>
                <a:latin typeface="IBM Plex Sans" pitchFamily="34" charset="0"/>
                <a:ea typeface="IBM Plex Sans" pitchFamily="34" charset="-122"/>
                <a:cs typeface="IBM Plex Sans" pitchFamily="34" charset="-120"/>
              </a:rPr>
              <a:t> classes across </a:t>
            </a:r>
            <a:pPr algn="ctr" indent="0" marL="0">
              <a:lnSpc>
                <a:spcPct val="107000"/>
              </a:lnSpc>
              <a:buNone/>
            </a:pPr>
            <a:r>
              <a:rPr lang="en-US" sz="2000" dirty="0">
                <a:solidFill>
                  <a:srgbClr val="F1CF55"/>
                </a:solidFill>
                <a:latin typeface="IBM Plex Sans" pitchFamily="34" charset="0"/>
                <a:ea typeface="IBM Plex Sans" pitchFamily="34" charset="-122"/>
                <a:cs typeface="IBM Plex Sans" pitchFamily="34" charset="-120"/>
              </a:rPr>
              <a:t>36</a:t>
            </a:r>
            <a:pPr algn="ctr" indent="0" marL="0">
              <a:lnSpc>
                <a:spcPct val="107000"/>
              </a:lnSpc>
              <a:buNone/>
            </a:pPr>
            <a:r>
              <a:rPr lang="en-US" sz="2000" dirty="0">
                <a:solidFill>
                  <a:srgbClr val="E6EBE2"/>
                </a:solidFill>
                <a:latin typeface="IBM Plex Sans" pitchFamily="34" charset="0"/>
                <a:ea typeface="IBM Plex Sans" pitchFamily="34" charset="-122"/>
                <a:cs typeface="IBM Plex Sans" pitchFamily="34" charset="-120"/>
              </a:rPr>
              <a:t> periods · lower bound </a:t>
            </a:r>
            <a:pPr algn="ctr" indent="0" marL="0">
              <a:lnSpc>
                <a:spcPct val="107000"/>
              </a:lnSpc>
              <a:buNone/>
            </a:pPr>
            <a:r>
              <a:rPr lang="en-US" sz="2000" dirty="0">
                <a:solidFill>
                  <a:srgbClr val="F1CF55"/>
                </a:solidFill>
                <a:latin typeface="IBM Plex Sans" pitchFamily="34" charset="0"/>
                <a:ea typeface="IBM Plex Sans" pitchFamily="34" charset="-122"/>
                <a:cs typeface="IBM Plex Sans" pitchFamily="34" charset="-120"/>
              </a:rPr>
              <a:t>20</a:t>
            </a:r>
            <a:pPr algn="ctr" indent="0" marL="0">
              <a:lnSpc>
                <a:spcPct val="107000"/>
              </a:lnSpc>
              <a:buNone/>
            </a:pPr>
            <a:r>
              <a:rPr lang="en-US" sz="2000" dirty="0">
                <a:solidFill>
                  <a:srgbClr val="E6EBE2"/>
                </a:solidFill>
                <a:latin typeface="IBM Plex Sans" pitchFamily="34" charset="0"/>
                <a:ea typeface="IBM Plex Sans" pitchFamily="34" charset="-122"/>
                <a:cs typeface="IBM Plex Sans" pitchFamily="34" charset="-120"/>
              </a:rPr>
              <a:t> · gap </a:t>
            </a:r>
            <a:pPr algn="ctr" indent="0" marL="0">
              <a:lnSpc>
                <a:spcPct val="107000"/>
              </a:lnSpc>
              <a:buNone/>
            </a:pPr>
            <a:r>
              <a:rPr lang="en-US" sz="2000" dirty="0">
                <a:solidFill>
                  <a:srgbClr val="F1CF55"/>
                </a:solidFill>
                <a:latin typeface="IBM Plex Sans" pitchFamily="34" charset="0"/>
                <a:ea typeface="IBM Plex Sans" pitchFamily="34" charset="-122"/>
                <a:cs typeface="IBM Plex Sans" pitchFamily="34" charset="-120"/>
              </a:rPr>
              <a:t>0</a:t>
            </a:r>
            <a:endParaRPr lang="en-US" sz="2000" dirty="0"/>
          </a:p>
        </p:txBody>
      </p:sp>
      <p:sp>
        <p:nvSpPr>
          <p:cNvPr id="8" name="Shape 6"/>
          <p:cNvSpPr/>
          <p:nvPr/>
        </p:nvSpPr>
        <p:spPr>
          <a:xfrm>
            <a:off x="1981150" y="5250359"/>
            <a:ext cx="8229394" cy="31651"/>
          </a:xfrm>
          <a:prstGeom prst="roundRect">
            <a:avLst>
              <a:gd name="adj" fmla="val 49998"/>
            </a:avLst>
          </a:prstGeom>
          <a:solidFill>
            <a:srgbClr val="FFFFFF">
              <a:alpha val="24000"/>
            </a:srgbClr>
          </a:solidFill>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609585" y="609600"/>
            <a:ext cx="10972526" cy="397669"/>
          </a:xfrm>
          <a:prstGeom prst="rect">
            <a:avLst/>
          </a:prstGeom>
          <a:noFill/>
          <a:ln/>
        </p:spPr>
        <p:txBody>
          <a:bodyPr wrap="none" lIns="0" tIns="0" rIns="0" bIns="0" rtlCol="0" anchor="t"/>
          <a:lstStyle/>
          <a:p>
            <a:pPr algn="l" indent="0" marL="0">
              <a:lnSpc>
                <a:spcPct val="90000"/>
              </a:lnSpc>
              <a:buNone/>
            </a:pPr>
            <a:r>
              <a:rPr lang="en-US" sz="2900" spc="-29" kern="100" dirty="0">
                <a:solidFill>
                  <a:srgbClr val="E6EBE2"/>
                </a:solidFill>
                <a:latin typeface="Bebas Neue" pitchFamily="34" charset="0"/>
                <a:ea typeface="Bebas Neue" pitchFamily="34" charset="-122"/>
                <a:cs typeface="Bebas Neue" pitchFamily="34" charset="-120"/>
              </a:rPr>
              <a:t>Problem Understanding, Input and Output</a:t>
            </a:r>
            <a:endParaRPr lang="en-US" sz="2900" dirty="0"/>
          </a:p>
        </p:txBody>
      </p:sp>
      <p:sp>
        <p:nvSpPr>
          <p:cNvPr id="3" name="Text 1"/>
          <p:cNvSpPr/>
          <p:nvPr/>
        </p:nvSpPr>
        <p:spPr>
          <a:xfrm>
            <a:off x="609585" y="1162844"/>
            <a:ext cx="11582110" cy="325041"/>
          </a:xfrm>
          <a:prstGeom prst="rect">
            <a:avLst/>
          </a:prstGeom>
          <a:noFill/>
          <a:ln/>
        </p:spPr>
        <p:txBody>
          <a:bodyPr wrap="none" lIns="0" tIns="0" rIns="0" bIns="0" rtlCol="0" anchor="t"/>
          <a:lstStyle/>
          <a:p>
            <a:pPr algn="l" indent="0" marL="0">
              <a:lnSpc>
                <a:spcPct val="107000"/>
              </a:lnSpc>
              <a:buNone/>
            </a:pPr>
            <a:r>
              <a:rPr lang="en-US" sz="2000" dirty="0">
                <a:solidFill>
                  <a:srgbClr val="E6EBE2"/>
                </a:solidFill>
                <a:latin typeface="IBM Plex Sans" pitchFamily="34" charset="0"/>
                <a:ea typeface="IBM Plex Sans" pitchFamily="34" charset="-122"/>
                <a:cs typeface="IBM Plex Sans" pitchFamily="34" charset="-120"/>
              </a:rPr>
              <a:t>The timetable is a constrained assignment with a minimum-room objective.</a:t>
            </a:r>
            <a:endParaRPr lang="en-US" sz="2000" dirty="0"/>
          </a:p>
        </p:txBody>
      </p:sp>
      <p:sp>
        <p:nvSpPr>
          <p:cNvPr id="4" name="Text 2"/>
          <p:cNvSpPr/>
          <p:nvPr/>
        </p:nvSpPr>
        <p:spPr>
          <a:xfrm>
            <a:off x="863578" y="1856184"/>
            <a:ext cx="3403515" cy="235645"/>
          </a:xfrm>
          <a:prstGeom prst="rect">
            <a:avLst/>
          </a:prstGeom>
          <a:noFill/>
          <a:ln/>
        </p:spPr>
        <p:txBody>
          <a:bodyPr wrap="none" lIns="0" tIns="0" rIns="0" bIns="0" rtlCol="0" anchor="t"/>
          <a:lstStyle/>
          <a:p>
            <a:pPr algn="l" indent="0" marL="0">
              <a:lnSpc>
                <a:spcPct val="107000"/>
              </a:lnSpc>
              <a:buNone/>
            </a:pPr>
            <a:r>
              <a:rPr lang="en-US" sz="1450" spc="116" kern="100" dirty="0">
                <a:solidFill>
                  <a:srgbClr val="F1CF55"/>
                </a:solidFill>
                <a:latin typeface="IBM Plex Sans" pitchFamily="34" charset="0"/>
                <a:ea typeface="IBM Plex Sans" pitchFamily="34" charset="-122"/>
                <a:cs typeface="IBM Plex Sans" pitchFamily="34" charset="-120"/>
              </a:rPr>
              <a:t>GOAL</a:t>
            </a:r>
            <a:endParaRPr lang="en-US" sz="1450" dirty="0"/>
          </a:p>
        </p:txBody>
      </p:sp>
      <p:sp>
        <p:nvSpPr>
          <p:cNvPr id="5" name="Text 3"/>
          <p:cNvSpPr/>
          <p:nvPr/>
        </p:nvSpPr>
        <p:spPr>
          <a:xfrm>
            <a:off x="863578" y="2155329"/>
            <a:ext cx="3149521" cy="315416"/>
          </a:xfrm>
          <a:prstGeom prst="rect">
            <a:avLst/>
          </a:prstGeom>
          <a:noFill/>
          <a:ln/>
        </p:spPr>
        <p:txBody>
          <a:bodyPr wrap="none" lIns="0" tIns="0" rIns="0" bIns="0" rtlCol="0" anchor="t"/>
          <a:lstStyle/>
          <a:p>
            <a:pPr algn="l" indent="0" marL="0">
              <a:lnSpc>
                <a:spcPct val="90000"/>
              </a:lnSpc>
              <a:buNone/>
            </a:pPr>
            <a:r>
              <a:rPr lang="en-US" sz="2300" spc="-23" kern="100" dirty="0">
                <a:solidFill>
                  <a:srgbClr val="E6EBE2"/>
                </a:solidFill>
                <a:latin typeface="IBM Plex Sans SemiBold" pitchFamily="34" charset="0"/>
                <a:ea typeface="IBM Plex Sans SemiBold" pitchFamily="34" charset="-122"/>
                <a:cs typeface="IBM Plex Sans SemiBold" pitchFamily="34" charset="-120"/>
              </a:rPr>
              <a:t>Schedule every class</a:t>
            </a:r>
            <a:endParaRPr lang="en-US" sz="2300" dirty="0"/>
          </a:p>
        </p:txBody>
      </p:sp>
      <p:sp>
        <p:nvSpPr>
          <p:cNvPr id="6" name="Text 4"/>
          <p:cNvSpPr/>
          <p:nvPr/>
        </p:nvSpPr>
        <p:spPr>
          <a:xfrm>
            <a:off x="863578" y="2581870"/>
            <a:ext cx="3149521" cy="1625203"/>
          </a:xfrm>
          <a:prstGeom prst="rect">
            <a:avLst/>
          </a:prstGeom>
          <a:noFill/>
          <a:ln/>
        </p:spPr>
        <p:txBody>
          <a:bodyPr wrap="square" lIns="0" tIns="0" rIns="0" bIns="0" rtlCol="0" anchor="t">
            <a:normAutofit/>
          </a:bodyPr>
          <a:lstStyle/>
          <a:p>
            <a:pPr algn="l" indent="0" marL="0">
              <a:lnSpc>
                <a:spcPct val="107000"/>
              </a:lnSpc>
              <a:buNone/>
            </a:pPr>
            <a:r>
              <a:rPr lang="en-US" sz="2000" dirty="0">
                <a:solidFill>
                  <a:srgbClr val="E6EBE2"/>
                </a:solidFill>
                <a:latin typeface="IBM Plex Sans" pitchFamily="34" charset="0"/>
                <a:ea typeface="IBM Plex Sans" pitchFamily="34" charset="-122"/>
                <a:cs typeface="IBM Plex Sans" pitchFamily="34" charset="-120"/>
              </a:rPr>
              <a:t>Schedule all classes so no section and no teacher has two classes at the same time, using the minimum number of classrooms.</a:t>
            </a:r>
            <a:endParaRPr lang="en-US" sz="2000" dirty="0"/>
          </a:p>
        </p:txBody>
      </p:sp>
      <p:sp>
        <p:nvSpPr>
          <p:cNvPr id="7" name="Text 5"/>
          <p:cNvSpPr/>
          <p:nvPr/>
        </p:nvSpPr>
        <p:spPr>
          <a:xfrm>
            <a:off x="4521087" y="1856184"/>
            <a:ext cx="3403515" cy="235645"/>
          </a:xfrm>
          <a:prstGeom prst="rect">
            <a:avLst/>
          </a:prstGeom>
          <a:noFill/>
          <a:ln/>
        </p:spPr>
        <p:txBody>
          <a:bodyPr wrap="none" lIns="0" tIns="0" rIns="0" bIns="0" rtlCol="0" anchor="t"/>
          <a:lstStyle/>
          <a:p>
            <a:pPr algn="l" indent="0" marL="0">
              <a:lnSpc>
                <a:spcPct val="107000"/>
              </a:lnSpc>
              <a:buNone/>
            </a:pPr>
            <a:r>
              <a:rPr lang="en-US" sz="1450" spc="116" kern="100" dirty="0">
                <a:solidFill>
                  <a:srgbClr val="F1CF55"/>
                </a:solidFill>
                <a:latin typeface="IBM Plex Sans" pitchFamily="34" charset="0"/>
                <a:ea typeface="IBM Plex Sans" pitchFamily="34" charset="-122"/>
                <a:cs typeface="IBM Plex Sans" pitchFamily="34" charset="-120"/>
              </a:rPr>
              <a:t>INPUT</a:t>
            </a:r>
            <a:endParaRPr lang="en-US" sz="1450" dirty="0"/>
          </a:p>
        </p:txBody>
      </p:sp>
      <p:sp>
        <p:nvSpPr>
          <p:cNvPr id="8" name="Text 6"/>
          <p:cNvSpPr/>
          <p:nvPr/>
        </p:nvSpPr>
        <p:spPr>
          <a:xfrm>
            <a:off x="4521087" y="2155329"/>
            <a:ext cx="3149521" cy="315416"/>
          </a:xfrm>
          <a:prstGeom prst="rect">
            <a:avLst/>
          </a:prstGeom>
          <a:noFill/>
          <a:ln/>
        </p:spPr>
        <p:txBody>
          <a:bodyPr wrap="none" lIns="0" tIns="0" rIns="0" bIns="0" rtlCol="0" anchor="t"/>
          <a:lstStyle/>
          <a:p>
            <a:pPr algn="l" indent="0" marL="0">
              <a:lnSpc>
                <a:spcPct val="90000"/>
              </a:lnSpc>
              <a:buNone/>
            </a:pPr>
            <a:r>
              <a:rPr lang="en-US" sz="2300" spc="-23" kern="100" dirty="0">
                <a:solidFill>
                  <a:srgbClr val="E6EBE2"/>
                </a:solidFill>
                <a:latin typeface="IBM Plex Sans SemiBold" pitchFamily="34" charset="0"/>
                <a:ea typeface="IBM Plex Sans SemiBold" pitchFamily="34" charset="-122"/>
                <a:cs typeface="IBM Plex Sans SemiBold" pitchFamily="34" charset="-120"/>
              </a:rPr>
              <a:t>27 · 49 · 26 · 36</a:t>
            </a:r>
            <a:endParaRPr lang="en-US" sz="2300" dirty="0"/>
          </a:p>
        </p:txBody>
      </p:sp>
      <p:sp>
        <p:nvSpPr>
          <p:cNvPr id="9" name="Text 7"/>
          <p:cNvSpPr/>
          <p:nvPr/>
        </p:nvSpPr>
        <p:spPr>
          <a:xfrm>
            <a:off x="4521087" y="2581870"/>
            <a:ext cx="3149521" cy="1300163"/>
          </a:xfrm>
          <a:prstGeom prst="rect">
            <a:avLst/>
          </a:prstGeom>
          <a:noFill/>
          <a:ln/>
        </p:spPr>
        <p:txBody>
          <a:bodyPr wrap="square" lIns="0" tIns="0" rIns="0" bIns="0" rtlCol="0" anchor="t">
            <a:normAutofit/>
          </a:bodyPr>
          <a:lstStyle/>
          <a:p>
            <a:pPr algn="l" indent="0" marL="0">
              <a:lnSpc>
                <a:spcPct val="107000"/>
              </a:lnSpc>
              <a:buNone/>
            </a:pPr>
            <a:r>
              <a:rPr lang="en-US" sz="2000" dirty="0">
                <a:solidFill>
                  <a:srgbClr val="E6EBE2"/>
                </a:solidFill>
                <a:latin typeface="IBM Plex Sans" pitchFamily="34" charset="0"/>
                <a:ea typeface="IBM Plex Sans" pitchFamily="34" charset="-122"/>
                <a:cs typeface="IBM Plex Sans" pitchFamily="34" charset="-120"/>
              </a:rPr>
              <a:t>27 sections, 49 teachers, 26 classes per section per week, and 6 days × 6 periods = 36 periods.</a:t>
            </a:r>
            <a:endParaRPr lang="en-US" sz="2000" dirty="0"/>
          </a:p>
        </p:txBody>
      </p:sp>
      <p:sp>
        <p:nvSpPr>
          <p:cNvPr id="10" name="Text 8"/>
          <p:cNvSpPr/>
          <p:nvPr/>
        </p:nvSpPr>
        <p:spPr>
          <a:xfrm>
            <a:off x="8178595" y="1856184"/>
            <a:ext cx="3403515" cy="235645"/>
          </a:xfrm>
          <a:prstGeom prst="rect">
            <a:avLst/>
          </a:prstGeom>
          <a:noFill/>
          <a:ln/>
        </p:spPr>
        <p:txBody>
          <a:bodyPr wrap="none" lIns="0" tIns="0" rIns="0" bIns="0" rtlCol="0" anchor="t"/>
          <a:lstStyle/>
          <a:p>
            <a:pPr algn="l" indent="0" marL="0">
              <a:lnSpc>
                <a:spcPct val="107000"/>
              </a:lnSpc>
              <a:buNone/>
            </a:pPr>
            <a:r>
              <a:rPr lang="en-US" sz="1450" spc="116" kern="100" dirty="0">
                <a:solidFill>
                  <a:srgbClr val="F1CF55"/>
                </a:solidFill>
                <a:latin typeface="IBM Plex Sans" pitchFamily="34" charset="0"/>
                <a:ea typeface="IBM Plex Sans" pitchFamily="34" charset="-122"/>
                <a:cs typeface="IBM Plex Sans" pitchFamily="34" charset="-120"/>
              </a:rPr>
              <a:t>OUTPUT</a:t>
            </a:r>
            <a:endParaRPr lang="en-US" sz="1450" dirty="0"/>
          </a:p>
        </p:txBody>
      </p:sp>
      <p:sp>
        <p:nvSpPr>
          <p:cNvPr id="11" name="Text 9"/>
          <p:cNvSpPr/>
          <p:nvPr/>
        </p:nvSpPr>
        <p:spPr>
          <a:xfrm>
            <a:off x="8178595" y="2155329"/>
            <a:ext cx="3149521" cy="630833"/>
          </a:xfrm>
          <a:prstGeom prst="rect">
            <a:avLst/>
          </a:prstGeom>
          <a:noFill/>
          <a:ln/>
        </p:spPr>
        <p:txBody>
          <a:bodyPr wrap="square" lIns="0" tIns="0" rIns="0" bIns="0" rtlCol="0" anchor="t">
            <a:normAutofit/>
          </a:bodyPr>
          <a:lstStyle/>
          <a:p>
            <a:pPr algn="l" indent="0" marL="0">
              <a:lnSpc>
                <a:spcPct val="90000"/>
              </a:lnSpc>
              <a:buNone/>
            </a:pPr>
            <a:r>
              <a:rPr lang="en-US" sz="2300" spc="-23" kern="100" dirty="0">
                <a:solidFill>
                  <a:srgbClr val="E6EBE2"/>
                </a:solidFill>
                <a:latin typeface="IBM Plex Sans SemiBold" pitchFamily="34" charset="0"/>
                <a:ea typeface="IBM Plex Sans SemiBold" pitchFamily="34" charset="-122"/>
                <a:cs typeface="IBM Plex Sans SemiBold" pitchFamily="34" charset="-120"/>
              </a:rPr>
              <a:t>One complete assignment</a:t>
            </a:r>
            <a:endParaRPr lang="en-US" sz="2300" dirty="0"/>
          </a:p>
        </p:txBody>
      </p:sp>
      <p:sp>
        <p:nvSpPr>
          <p:cNvPr id="12" name="Text 10"/>
          <p:cNvSpPr/>
          <p:nvPr/>
        </p:nvSpPr>
        <p:spPr>
          <a:xfrm>
            <a:off x="8178595" y="2897287"/>
            <a:ext cx="3149521" cy="1625203"/>
          </a:xfrm>
          <a:prstGeom prst="rect">
            <a:avLst/>
          </a:prstGeom>
          <a:noFill/>
          <a:ln/>
        </p:spPr>
        <p:txBody>
          <a:bodyPr wrap="square" lIns="0" tIns="0" rIns="0" bIns="0" rtlCol="0" anchor="t">
            <a:normAutofit/>
          </a:bodyPr>
          <a:lstStyle/>
          <a:p>
            <a:pPr algn="l" indent="0" marL="0">
              <a:lnSpc>
                <a:spcPct val="107000"/>
              </a:lnSpc>
              <a:buNone/>
            </a:pPr>
            <a:r>
              <a:rPr lang="en-US" sz="2000" dirty="0">
                <a:solidFill>
                  <a:srgbClr val="E6EBE2"/>
                </a:solidFill>
                <a:latin typeface="IBM Plex Sans" pitchFamily="34" charset="0"/>
                <a:ea typeface="IBM Plex Sans" pitchFamily="34" charset="-122"/>
                <a:cs typeface="IBM Plex Sans" pitchFamily="34" charset="-120"/>
              </a:rPr>
              <a:t>A period and room for every one of the 702 classes, the room count, and a proof that it is minimal.</a:t>
            </a:r>
            <a:endParaRPr lang="en-US" sz="2000" dirty="0"/>
          </a:p>
        </p:txBody>
      </p:sp>
      <p:sp>
        <p:nvSpPr>
          <p:cNvPr id="13" name="Shape 11"/>
          <p:cNvSpPr/>
          <p:nvPr/>
        </p:nvSpPr>
        <p:spPr>
          <a:xfrm>
            <a:off x="4260743" y="1627584"/>
            <a:ext cx="12700" cy="4620816"/>
          </a:xfrm>
          <a:prstGeom prst="rect">
            <a:avLst/>
          </a:prstGeom>
          <a:solidFill>
            <a:srgbClr val="FFFFFF">
              <a:alpha val="24000"/>
            </a:srgbClr>
          </a:solidFill>
          <a:ln/>
        </p:spPr>
      </p:sp>
      <p:sp>
        <p:nvSpPr>
          <p:cNvPr id="14" name="Shape 12"/>
          <p:cNvSpPr/>
          <p:nvPr/>
        </p:nvSpPr>
        <p:spPr>
          <a:xfrm>
            <a:off x="7918252" y="1627584"/>
            <a:ext cx="12700" cy="4620816"/>
          </a:xfrm>
          <a:prstGeom prst="rect">
            <a:avLst/>
          </a:prstGeom>
          <a:solidFill>
            <a:srgbClr val="FFFFFF">
              <a:alpha val="24000"/>
            </a:srgbClr>
          </a:solidFill>
          <a:ln/>
        </p:spPr>
      </p:sp>
      <p:sp>
        <p:nvSpPr>
          <p:cNvPr id="15" name="Text 13"/>
          <p:cNvSpPr/>
          <p:nvPr/>
        </p:nvSpPr>
        <p:spPr>
          <a:xfrm>
            <a:off x="11475354" y="6528296"/>
            <a:ext cx="716341" cy="227509"/>
          </a:xfrm>
          <a:prstGeom prst="rect">
            <a:avLst/>
          </a:prstGeom>
          <a:noFill/>
          <a:ln/>
        </p:spPr>
        <p:txBody>
          <a:bodyPr wrap="none" lIns="0" tIns="0" rIns="0" bIns="0" rtlCol="0" anchor="ctr"/>
          <a:lstStyle/>
          <a:p>
            <a:pPr algn="l" indent="0" marL="0">
              <a:lnSpc>
                <a:spcPct val="107000"/>
              </a:lnSpc>
              <a:buNone/>
            </a:pPr>
            <a:r>
              <a:rPr lang="en-US" sz="1400" dirty="0">
                <a:solidFill>
                  <a:srgbClr val="E6EBE2"/>
                </a:solidFill>
                <a:latin typeface="IBM Plex Sans" pitchFamily="34" charset="0"/>
                <a:ea typeface="IBM Plex Sans" pitchFamily="34" charset="-122"/>
                <a:cs typeface="IBM Plex Sans" pitchFamily="34" charset="-120"/>
              </a:rPr>
              <a:t>2</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609585" y="1347887"/>
            <a:ext cx="10972526" cy="493713"/>
          </a:xfrm>
          <a:prstGeom prst="rect">
            <a:avLst/>
          </a:prstGeom>
          <a:noFill/>
          <a:ln/>
        </p:spPr>
        <p:txBody>
          <a:bodyPr wrap="none" lIns="0" tIns="0" rIns="0" bIns="0" rtlCol="0" anchor="t"/>
          <a:lstStyle/>
          <a:p>
            <a:pPr algn="l" indent="0" marL="0">
              <a:lnSpc>
                <a:spcPct val="90000"/>
              </a:lnSpc>
              <a:buNone/>
            </a:pPr>
            <a:r>
              <a:rPr lang="en-US" sz="3600" spc="-36" kern="100" dirty="0">
                <a:solidFill>
                  <a:srgbClr val="E6EBE2"/>
                </a:solidFill>
                <a:latin typeface="Bebas Neue" pitchFamily="34" charset="0"/>
                <a:ea typeface="Bebas Neue" pitchFamily="34" charset="-122"/>
                <a:cs typeface="Bebas Neue" pitchFamily="34" charset="-120"/>
              </a:rPr>
              <a:t>Constraints</a:t>
            </a:r>
            <a:endParaRPr lang="en-US" sz="3600" dirty="0"/>
          </a:p>
        </p:txBody>
      </p:sp>
      <p:sp>
        <p:nvSpPr>
          <p:cNvPr id="3" name="Text 1"/>
          <p:cNvSpPr/>
          <p:nvPr/>
        </p:nvSpPr>
        <p:spPr>
          <a:xfrm>
            <a:off x="609585" y="1997174"/>
            <a:ext cx="5333867" cy="235645"/>
          </a:xfrm>
          <a:prstGeom prst="rect">
            <a:avLst/>
          </a:prstGeom>
          <a:noFill/>
          <a:ln/>
        </p:spPr>
        <p:txBody>
          <a:bodyPr wrap="none" lIns="0" tIns="0" rIns="0" bIns="0" rtlCol="0" anchor="t"/>
          <a:lstStyle/>
          <a:p>
            <a:pPr algn="l" indent="0" marL="0">
              <a:lnSpc>
                <a:spcPct val="107000"/>
              </a:lnSpc>
              <a:buNone/>
            </a:pPr>
            <a:r>
              <a:rPr lang="en-US" sz="1450" spc="116" kern="100" dirty="0">
                <a:solidFill>
                  <a:srgbClr val="F1CF55"/>
                </a:solidFill>
                <a:latin typeface="IBM Plex Sans" pitchFamily="34" charset="0"/>
                <a:ea typeface="IBM Plex Sans" pitchFamily="34" charset="-122"/>
                <a:cs typeface="IBM Plex Sans" pitchFamily="34" charset="-120"/>
              </a:rPr>
              <a:t>FEASIBILITY</a:t>
            </a:r>
            <a:endParaRPr lang="en-US" sz="1450" dirty="0"/>
          </a:p>
        </p:txBody>
      </p:sp>
      <p:sp>
        <p:nvSpPr>
          <p:cNvPr id="4" name="Text 2"/>
          <p:cNvSpPr/>
          <p:nvPr/>
        </p:nvSpPr>
        <p:spPr>
          <a:xfrm>
            <a:off x="609585" y="2324894"/>
            <a:ext cx="5333867" cy="2026444"/>
          </a:xfrm>
          <a:prstGeom prst="rect">
            <a:avLst/>
          </a:prstGeom>
          <a:noFill/>
          <a:ln/>
        </p:spPr>
        <p:txBody>
          <a:bodyPr wrap="square" lIns="0" tIns="0" rIns="0" bIns="0" rtlCol="0" anchor="t">
            <a:normAutofit/>
          </a:bodyPr>
          <a:lstStyle/>
          <a:p>
            <a:pPr algn="l" marL="406400" indent="-406400">
              <a:lnSpc>
                <a:spcPct val="107000"/>
              </a:lnSpc>
              <a:buSzPct val="100000"/>
              <a:buChar char="•"/>
            </a:pPr>
            <a:r>
              <a:rPr lang="en-US" sz="2000" dirty="0">
                <a:solidFill>
                  <a:srgbClr val="E6EBE2"/>
                </a:solidFill>
                <a:latin typeface="IBM Plex Sans" pitchFamily="34" charset="0"/>
                <a:ea typeface="IBM Plex Sans" pitchFamily="34" charset="-122"/>
                <a:cs typeface="IBM Plex Sans" pitchFamily="34" charset="-120"/>
              </a:rPr>
              <a:t>A section cannot attend two classes in the same period.</a:t>
            </a:r>
            <a:endParaRPr lang="en-US" sz="2000" dirty="0"/>
          </a:p>
          <a:p>
            <a:pPr algn="l" marL="406400" indent="-406400">
              <a:lnSpc>
                <a:spcPct val="107000"/>
              </a:lnSpc>
              <a:buSzPct val="100000"/>
              <a:buChar char="•"/>
            </a:pPr>
            <a:r>
              <a:rPr lang="en-US" sz="2000" dirty="0">
                <a:solidFill>
                  <a:srgbClr val="E6EBE2"/>
                </a:solidFill>
                <a:latin typeface="IBM Plex Sans" pitchFamily="34" charset="0"/>
                <a:ea typeface="IBM Plex Sans" pitchFamily="34" charset="-122"/>
                <a:cs typeface="IBM Plex Sans" pitchFamily="34" charset="-120"/>
              </a:rPr>
              <a:t>A teacher cannot teach two classes in the same period.</a:t>
            </a:r>
            <a:endParaRPr lang="en-US" sz="2000" dirty="0"/>
          </a:p>
          <a:p>
            <a:pPr algn="l" marL="406400" indent="-406400">
              <a:lnSpc>
                <a:spcPct val="107000"/>
              </a:lnSpc>
              <a:buSzPct val="100000"/>
              <a:buChar char="•"/>
            </a:pPr>
            <a:r>
              <a:rPr lang="en-US" sz="2000" dirty="0">
                <a:solidFill>
                  <a:srgbClr val="E6EBE2"/>
                </a:solidFill>
                <a:latin typeface="IBM Plex Sans" pitchFamily="34" charset="0"/>
                <a:ea typeface="IBM Plex Sans" pitchFamily="34" charset="-122"/>
                <a:cs typeface="IBM Plex Sans" pitchFamily="34" charset="-120"/>
              </a:rPr>
              <a:t>Classes sharing a period need different rooms.</a:t>
            </a:r>
            <a:endParaRPr lang="en-US" sz="2000" dirty="0"/>
          </a:p>
        </p:txBody>
      </p:sp>
      <p:sp>
        <p:nvSpPr>
          <p:cNvPr id="5" name="Text 3"/>
          <p:cNvSpPr/>
          <p:nvPr/>
        </p:nvSpPr>
        <p:spPr>
          <a:xfrm>
            <a:off x="6248244" y="1997174"/>
            <a:ext cx="5333867" cy="235645"/>
          </a:xfrm>
          <a:prstGeom prst="rect">
            <a:avLst/>
          </a:prstGeom>
          <a:noFill/>
          <a:ln/>
        </p:spPr>
        <p:txBody>
          <a:bodyPr wrap="none" lIns="0" tIns="0" rIns="0" bIns="0" rtlCol="0" anchor="t"/>
          <a:lstStyle/>
          <a:p>
            <a:pPr algn="l" indent="0" marL="0">
              <a:lnSpc>
                <a:spcPct val="107000"/>
              </a:lnSpc>
              <a:buNone/>
            </a:pPr>
            <a:r>
              <a:rPr lang="en-US" sz="1450" spc="116" kern="100" dirty="0">
                <a:solidFill>
                  <a:srgbClr val="F1CF55"/>
                </a:solidFill>
                <a:latin typeface="IBM Plex Sans" pitchFamily="34" charset="0"/>
                <a:ea typeface="IBM Plex Sans" pitchFamily="34" charset="-122"/>
                <a:cs typeface="IBM Plex Sans" pitchFamily="34" charset="-120"/>
              </a:rPr>
              <a:t>SCALE</a:t>
            </a:r>
            <a:endParaRPr lang="en-US" sz="1450" dirty="0"/>
          </a:p>
        </p:txBody>
      </p:sp>
      <p:sp>
        <p:nvSpPr>
          <p:cNvPr id="6" name="Text 4"/>
          <p:cNvSpPr/>
          <p:nvPr/>
        </p:nvSpPr>
        <p:spPr>
          <a:xfrm>
            <a:off x="6248244" y="2296319"/>
            <a:ext cx="5333867" cy="315416"/>
          </a:xfrm>
          <a:prstGeom prst="rect">
            <a:avLst/>
          </a:prstGeom>
          <a:noFill/>
          <a:ln/>
        </p:spPr>
        <p:txBody>
          <a:bodyPr wrap="none" lIns="0" tIns="0" rIns="0" bIns="0" rtlCol="0" anchor="t"/>
          <a:lstStyle/>
          <a:p>
            <a:pPr algn="l" indent="0" marL="0">
              <a:lnSpc>
                <a:spcPct val="90000"/>
              </a:lnSpc>
              <a:buNone/>
            </a:pPr>
            <a:r>
              <a:rPr lang="en-US" sz="2300" spc="-23" kern="100" dirty="0">
                <a:solidFill>
                  <a:srgbClr val="F1CF55"/>
                </a:solidFill>
                <a:latin typeface="IBM Plex Sans SemiBold" pitchFamily="34" charset="0"/>
                <a:ea typeface="IBM Plex Sans SemiBold" pitchFamily="34" charset="-122"/>
                <a:cs typeface="IBM Plex Sans SemiBold" pitchFamily="34" charset="-120"/>
              </a:rPr>
              <a:t>n = 702</a:t>
            </a:r>
            <a:pPr algn="l" indent="0" marL="0">
              <a:lnSpc>
                <a:spcPct val="90000"/>
              </a:lnSpc>
              <a:buNone/>
            </a:pPr>
            <a:r>
              <a:rPr lang="en-US" sz="2300" spc="-23" kern="100" dirty="0">
                <a:solidFill>
                  <a:srgbClr val="E6EBE2"/>
                </a:solidFill>
                <a:latin typeface="IBM Plex Sans SemiBold" pitchFamily="34" charset="0"/>
                <a:ea typeface="IBM Plex Sans SemiBold" pitchFamily="34" charset="-122"/>
                <a:cs typeface="IBM Plex Sans SemiBold" pitchFamily="34" charset="-120"/>
              </a:rPr>
              <a:t> classes · </a:t>
            </a:r>
            <a:pPr algn="l" indent="0" marL="0">
              <a:lnSpc>
                <a:spcPct val="90000"/>
              </a:lnSpc>
              <a:buNone/>
            </a:pPr>
            <a:r>
              <a:rPr lang="en-US" sz="2300" spc="-23" kern="100" dirty="0">
                <a:solidFill>
                  <a:srgbClr val="F1CF55"/>
                </a:solidFill>
                <a:latin typeface="IBM Plex Sans SemiBold" pitchFamily="34" charset="0"/>
                <a:ea typeface="IBM Plex Sans SemiBold" pitchFamily="34" charset="-122"/>
                <a:cs typeface="IBM Plex Sans SemiBold" pitchFamily="34" charset="-120"/>
              </a:rPr>
              <a:t>T = 36</a:t>
            </a:r>
            <a:pPr algn="l" indent="0" marL="0">
              <a:lnSpc>
                <a:spcPct val="90000"/>
              </a:lnSpc>
              <a:buNone/>
            </a:pPr>
            <a:r>
              <a:rPr lang="en-US" sz="2300" spc="-23" kern="100" dirty="0">
                <a:solidFill>
                  <a:srgbClr val="E6EBE2"/>
                </a:solidFill>
                <a:latin typeface="IBM Plex Sans SemiBold" pitchFamily="34" charset="0"/>
                <a:ea typeface="IBM Plex Sans SemiBold" pitchFamily="34" charset="-122"/>
                <a:cs typeface="IBM Plex Sans SemiBold" pitchFamily="34" charset="-120"/>
              </a:rPr>
              <a:t> periods</a:t>
            </a:r>
            <a:endParaRPr lang="en-US" sz="2300" dirty="0"/>
          </a:p>
        </p:txBody>
      </p:sp>
      <p:sp>
        <p:nvSpPr>
          <p:cNvPr id="7" name="Text 5"/>
          <p:cNvSpPr/>
          <p:nvPr/>
        </p:nvSpPr>
        <p:spPr>
          <a:xfrm>
            <a:off x="6248244" y="2722860"/>
            <a:ext cx="5333867" cy="1392238"/>
          </a:xfrm>
          <a:prstGeom prst="rect">
            <a:avLst/>
          </a:prstGeom>
          <a:noFill/>
          <a:ln/>
        </p:spPr>
        <p:txBody>
          <a:bodyPr wrap="square" lIns="0" tIns="0" rIns="0" bIns="0" rtlCol="0" anchor="t"/>
          <a:lstStyle/>
          <a:p>
            <a:pPr algn="l" indent="0" marL="0">
              <a:lnSpc>
                <a:spcPct val="107000"/>
              </a:lnSpc>
              <a:spcAft>
                <a:spcPts val="700"/>
              </a:spcAft>
              <a:buNone/>
            </a:pPr>
            <a:r>
              <a:rPr lang="en-US" sz="2000" dirty="0">
                <a:solidFill>
                  <a:srgbClr val="E6EBE2"/>
                </a:solidFill>
                <a:latin typeface="IBM Plex Sans" pitchFamily="34" charset="0"/>
                <a:ea typeface="IBM Plex Sans" pitchFamily="34" charset="-122"/>
                <a:cs typeface="IBM Plex Sans" pitchFamily="34" charset="-120"/>
              </a:rPr>
              <a:t>S = 27 sections · F = 49 teachers.</a:t>
            </a:r>
            <a:endParaRPr lang="en-US" sz="2000" dirty="0"/>
          </a:p>
          <a:p>
            <a:pPr algn="l" indent="0" marL="0">
              <a:lnSpc>
                <a:spcPct val="107000"/>
              </a:lnSpc>
              <a:buNone/>
            </a:pPr>
            <a:r>
              <a:rPr lang="en-US" sz="2000" dirty="0">
                <a:solidFill>
                  <a:srgbClr val="E6EBE2"/>
                </a:solidFill>
                <a:latin typeface="IBM Plex Sans" pitchFamily="34" charset="0"/>
                <a:ea typeface="IBM Plex Sans" pitchFamily="34" charset="-122"/>
                <a:cs typeface="IBM Plex Sans" pitchFamily="34" charset="-120"/>
              </a:rPr>
              <a:t>n ≤ 1,000, so O(n²) is fast enough at about 0.5 million basic steps; trying every timetable means 36^702 assignments.</a:t>
            </a:r>
            <a:endParaRPr lang="en-US" sz="2000" dirty="0"/>
          </a:p>
        </p:txBody>
      </p:sp>
      <p:sp>
        <p:nvSpPr>
          <p:cNvPr id="8" name="Text 6"/>
          <p:cNvSpPr/>
          <p:nvPr/>
        </p:nvSpPr>
        <p:spPr>
          <a:xfrm>
            <a:off x="6248244" y="4207173"/>
            <a:ext cx="5333867" cy="235645"/>
          </a:xfrm>
          <a:prstGeom prst="rect">
            <a:avLst/>
          </a:prstGeom>
          <a:noFill/>
          <a:ln/>
        </p:spPr>
        <p:txBody>
          <a:bodyPr wrap="none" lIns="0" tIns="0" rIns="0" bIns="0" rtlCol="0" anchor="t"/>
          <a:lstStyle/>
          <a:p>
            <a:pPr algn="l" indent="0" marL="0">
              <a:lnSpc>
                <a:spcPct val="107000"/>
              </a:lnSpc>
              <a:buNone/>
            </a:pPr>
            <a:r>
              <a:rPr lang="en-US" sz="1450" spc="116" kern="100" dirty="0">
                <a:solidFill>
                  <a:srgbClr val="F1CF55"/>
                </a:solidFill>
                <a:latin typeface="IBM Plex Sans" pitchFamily="34" charset="0"/>
                <a:ea typeface="IBM Plex Sans" pitchFamily="34" charset="-122"/>
                <a:cs typeface="IBM Plex Sans" pitchFamily="34" charset="-120"/>
              </a:rPr>
              <a:t>EDGE CASES</a:t>
            </a:r>
            <a:endParaRPr lang="en-US" sz="1450" dirty="0"/>
          </a:p>
        </p:txBody>
      </p:sp>
      <p:sp>
        <p:nvSpPr>
          <p:cNvPr id="9" name="Text 7"/>
          <p:cNvSpPr/>
          <p:nvPr/>
        </p:nvSpPr>
        <p:spPr>
          <a:xfrm>
            <a:off x="6248244" y="4534892"/>
            <a:ext cx="5333867" cy="975122"/>
          </a:xfrm>
          <a:prstGeom prst="rect">
            <a:avLst/>
          </a:prstGeom>
          <a:noFill/>
          <a:ln/>
        </p:spPr>
        <p:txBody>
          <a:bodyPr wrap="square" lIns="0" tIns="0" rIns="0" bIns="0" rtlCol="0" anchor="t">
            <a:normAutofit/>
          </a:bodyPr>
          <a:lstStyle/>
          <a:p>
            <a:pPr algn="l" indent="0" marL="0">
              <a:lnSpc>
                <a:spcPct val="107000"/>
              </a:lnSpc>
              <a:buNone/>
            </a:pPr>
            <a:r>
              <a:rPr lang="en-US" sz="2000" dirty="0">
                <a:solidFill>
                  <a:srgbClr val="E6EBE2"/>
                </a:solidFill>
                <a:latin typeface="IBM Plex Sans" pitchFamily="34" charset="0"/>
                <a:ea typeface="IBM Plex Sans" pitchFamily="34" charset="-122"/>
                <a:cs typeface="IBM Plex Sans" pitchFamily="34" charset="-120"/>
              </a:rPr>
              <a:t>Overfull section or teacher, empty input, malformed CSV rows, a stuck solver, and the combined CSE-G + CSE-H group.</a:t>
            </a:r>
            <a:endParaRPr lang="en-US" sz="2000" dirty="0"/>
          </a:p>
        </p:txBody>
      </p:sp>
      <p:sp>
        <p:nvSpPr>
          <p:cNvPr id="10" name="Text 8"/>
          <p:cNvSpPr/>
          <p:nvPr/>
        </p:nvSpPr>
        <p:spPr>
          <a:xfrm>
            <a:off x="11475354" y="6528296"/>
            <a:ext cx="716341" cy="227509"/>
          </a:xfrm>
          <a:prstGeom prst="rect">
            <a:avLst/>
          </a:prstGeom>
          <a:noFill/>
          <a:ln/>
        </p:spPr>
        <p:txBody>
          <a:bodyPr wrap="none" lIns="0" tIns="0" rIns="0" bIns="0" rtlCol="0" anchor="ctr"/>
          <a:lstStyle/>
          <a:p>
            <a:pPr algn="l" indent="0" marL="0">
              <a:lnSpc>
                <a:spcPct val="107000"/>
              </a:lnSpc>
              <a:buNone/>
            </a:pPr>
            <a:r>
              <a:rPr lang="en-US" sz="1400" dirty="0">
                <a:solidFill>
                  <a:srgbClr val="E6EBE2"/>
                </a:solidFill>
                <a:latin typeface="IBM Plex Sans" pitchFamily="34" charset="0"/>
                <a:ea typeface="IBM Plex Sans" pitchFamily="34" charset="-122"/>
                <a:cs typeface="IBM Plex Sans" pitchFamily="34" charset="-120"/>
              </a:rPr>
              <a:t>3</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609585" y="609600"/>
            <a:ext cx="10972526" cy="397669"/>
          </a:xfrm>
          <a:prstGeom prst="rect">
            <a:avLst/>
          </a:prstGeom>
          <a:noFill/>
          <a:ln/>
        </p:spPr>
        <p:txBody>
          <a:bodyPr wrap="none" lIns="0" tIns="0" rIns="0" bIns="0" rtlCol="0" anchor="t"/>
          <a:lstStyle/>
          <a:p>
            <a:pPr algn="l" indent="0" marL="0">
              <a:lnSpc>
                <a:spcPct val="90000"/>
              </a:lnSpc>
              <a:buNone/>
            </a:pPr>
            <a:r>
              <a:rPr lang="en-US" sz="2900" spc="-29" kern="100" dirty="0">
                <a:solidFill>
                  <a:srgbClr val="E6EBE2"/>
                </a:solidFill>
                <a:latin typeface="Bebas Neue" pitchFamily="34" charset="0"/>
                <a:ea typeface="Bebas Neue" pitchFamily="34" charset="-122"/>
                <a:cs typeface="Bebas Neue" pitchFamily="34" charset="-120"/>
              </a:rPr>
              <a:t>Proposed Approach: Model, Lower Bound, Technique</a:t>
            </a:r>
            <a:endParaRPr lang="en-US" sz="2900" dirty="0"/>
          </a:p>
        </p:txBody>
      </p:sp>
      <p:sp>
        <p:nvSpPr>
          <p:cNvPr id="3" name="Text 1"/>
          <p:cNvSpPr/>
          <p:nvPr/>
        </p:nvSpPr>
        <p:spPr>
          <a:xfrm>
            <a:off x="838179" y="1340644"/>
            <a:ext cx="3428914" cy="235645"/>
          </a:xfrm>
          <a:prstGeom prst="rect">
            <a:avLst/>
          </a:prstGeom>
          <a:noFill/>
          <a:ln/>
        </p:spPr>
        <p:txBody>
          <a:bodyPr wrap="none" lIns="0" tIns="0" rIns="0" bIns="0" rtlCol="0" anchor="t"/>
          <a:lstStyle/>
          <a:p>
            <a:pPr algn="l" indent="0" marL="0">
              <a:lnSpc>
                <a:spcPct val="107000"/>
              </a:lnSpc>
              <a:buNone/>
            </a:pPr>
            <a:r>
              <a:rPr lang="en-US" sz="1450" spc="116" kern="100" dirty="0">
                <a:solidFill>
                  <a:srgbClr val="F1CF55"/>
                </a:solidFill>
                <a:latin typeface="IBM Plex Sans" pitchFamily="34" charset="0"/>
                <a:ea typeface="IBM Plex Sans" pitchFamily="34" charset="-122"/>
                <a:cs typeface="IBM Plex Sans" pitchFamily="34" charset="-120"/>
              </a:rPr>
              <a:t>MODEL</a:t>
            </a:r>
            <a:endParaRPr lang="en-US" sz="1450" dirty="0"/>
          </a:p>
        </p:txBody>
      </p:sp>
      <p:sp>
        <p:nvSpPr>
          <p:cNvPr id="4" name="Text 2"/>
          <p:cNvSpPr/>
          <p:nvPr/>
        </p:nvSpPr>
        <p:spPr>
          <a:xfrm>
            <a:off x="838179" y="1639788"/>
            <a:ext cx="3200320" cy="315416"/>
          </a:xfrm>
          <a:prstGeom prst="rect">
            <a:avLst/>
          </a:prstGeom>
          <a:noFill/>
          <a:ln/>
        </p:spPr>
        <p:txBody>
          <a:bodyPr wrap="none" lIns="0" tIns="0" rIns="0" bIns="0" rtlCol="0" anchor="t"/>
          <a:lstStyle/>
          <a:p>
            <a:pPr algn="l" indent="0" marL="0">
              <a:lnSpc>
                <a:spcPct val="90000"/>
              </a:lnSpc>
              <a:buNone/>
            </a:pPr>
            <a:r>
              <a:rPr lang="en-US" sz="2300" spc="-23" kern="100" dirty="0">
                <a:solidFill>
                  <a:srgbClr val="E6EBE2"/>
                </a:solidFill>
                <a:latin typeface="IBM Plex Sans SemiBold" pitchFamily="34" charset="0"/>
                <a:ea typeface="IBM Plex Sans SemiBold" pitchFamily="34" charset="-122"/>
                <a:cs typeface="IBM Plex Sans SemiBold" pitchFamily="34" charset="-120"/>
              </a:rPr>
              <a:t>Conflict graph</a:t>
            </a:r>
            <a:endParaRPr lang="en-US" sz="2300" dirty="0"/>
          </a:p>
        </p:txBody>
      </p:sp>
      <p:sp>
        <p:nvSpPr>
          <p:cNvPr id="5" name="Text 3"/>
          <p:cNvSpPr/>
          <p:nvPr/>
        </p:nvSpPr>
        <p:spPr>
          <a:xfrm>
            <a:off x="838179" y="2066330"/>
            <a:ext cx="3200320" cy="2042319"/>
          </a:xfrm>
          <a:prstGeom prst="rect">
            <a:avLst/>
          </a:prstGeom>
          <a:noFill/>
          <a:ln/>
        </p:spPr>
        <p:txBody>
          <a:bodyPr wrap="square" lIns="0" tIns="0" rIns="0" bIns="0" rtlCol="0" anchor="t">
            <a:normAutofit/>
          </a:bodyPr>
          <a:lstStyle/>
          <a:p>
            <a:pPr algn="l" indent="0" marL="0">
              <a:lnSpc>
                <a:spcPct val="107000"/>
              </a:lnSpc>
              <a:buNone/>
            </a:pPr>
            <a:r>
              <a:rPr lang="en-US" sz="2000" dirty="0">
                <a:solidFill>
                  <a:srgbClr val="E6EBE2"/>
                </a:solidFill>
                <a:latin typeface="IBM Plex Sans" pitchFamily="34" charset="0"/>
                <a:ea typeface="IBM Plex Sans" pitchFamily="34" charset="-122"/>
                <a:cs typeface="IBM Plex Sans" pitchFamily="34" charset="-120"/>
              </a:rPr>
              <a:t>Class → vertex</a:t>
            </a:r>
            <a:endParaRPr lang="en-US" sz="2000" dirty="0"/>
          </a:p>
          <a:p>
            <a:pPr algn="l" indent="0" marL="0">
              <a:lnSpc>
                <a:spcPct val="107000"/>
              </a:lnSpc>
              <a:buNone/>
            </a:pPr>
            <a:r>
              <a:rPr lang="en-US" sz="2000" dirty="0">
                <a:solidFill>
                  <a:srgbClr val="E6EBE2"/>
                </a:solidFill>
                <a:latin typeface="IBM Plex Sans" pitchFamily="34" charset="0"/>
                <a:ea typeface="IBM Plex Sans" pitchFamily="34" charset="-122"/>
                <a:cs typeface="IBM Plex Sans" pitchFamily="34" charset="-120"/>
              </a:rPr>
              <a:t>Same section or teacher → edge</a:t>
            </a:r>
            <a:endParaRPr lang="en-US" sz="2000" dirty="0"/>
          </a:p>
          <a:p>
            <a:pPr algn="l" indent="0" marL="0">
              <a:lnSpc>
                <a:spcPct val="107000"/>
              </a:lnSpc>
              <a:buNone/>
            </a:pPr>
            <a:r>
              <a:rPr lang="en-US" sz="2000" dirty="0">
                <a:solidFill>
                  <a:srgbClr val="E6EBE2"/>
                </a:solidFill>
                <a:latin typeface="IBM Plex Sans" pitchFamily="34" charset="0"/>
                <a:ea typeface="IBM Plex Sans" pitchFamily="34" charset="-122"/>
                <a:cs typeface="IBM Plex Sans" pitchFamily="34" charset="-120"/>
              </a:rPr>
              <a:t>Period → color</a:t>
            </a:r>
            <a:endParaRPr lang="en-US" sz="2000" dirty="0"/>
          </a:p>
          <a:p>
            <a:pPr algn="l" indent="0" marL="0">
              <a:lnSpc>
                <a:spcPct val="107000"/>
              </a:lnSpc>
              <a:spcAft>
                <a:spcPts val="700"/>
              </a:spcAft>
              <a:buNone/>
            </a:pPr>
            <a:r>
              <a:rPr lang="en-US" sz="2000" dirty="0">
                <a:solidFill>
                  <a:srgbClr val="E6EBE2"/>
                </a:solidFill>
                <a:latin typeface="IBM Plex Sans" pitchFamily="34" charset="0"/>
                <a:ea typeface="IBM Plex Sans" pitchFamily="34" charset="-122"/>
                <a:cs typeface="IBM Plex Sans" pitchFamily="34" charset="-120"/>
              </a:rPr>
              <a:t>Rooms → largest color class</a:t>
            </a:r>
            <a:endParaRPr lang="en-US" sz="2000" dirty="0"/>
          </a:p>
          <a:p>
            <a:pPr algn="l" indent="0" marL="0">
              <a:lnSpc>
                <a:spcPct val="107000"/>
              </a:lnSpc>
              <a:buNone/>
            </a:pPr>
            <a:r>
              <a:rPr lang="en-US" sz="2000" dirty="0">
                <a:solidFill>
                  <a:srgbClr val="E6EBE2"/>
                </a:solidFill>
                <a:latin typeface="IBM Plex Sans" pitchFamily="34" charset="0"/>
                <a:ea typeface="IBM Plex Sans" pitchFamily="34" charset="-122"/>
                <a:cs typeface="IBM Plex Sans" pitchFamily="34" charset="-120"/>
              </a:rPr>
              <a:t>702 vertices · 12,345 edges</a:t>
            </a:r>
            <a:endParaRPr lang="en-US" sz="2000" dirty="0"/>
          </a:p>
        </p:txBody>
      </p:sp>
      <p:sp>
        <p:nvSpPr>
          <p:cNvPr id="6" name="Text 4"/>
          <p:cNvSpPr/>
          <p:nvPr/>
        </p:nvSpPr>
        <p:spPr>
          <a:xfrm>
            <a:off x="5763275" y="1340644"/>
            <a:ext cx="1274631" cy="235645"/>
          </a:xfrm>
          <a:prstGeom prst="rect">
            <a:avLst/>
          </a:prstGeom>
          <a:noFill/>
          <a:ln/>
        </p:spPr>
        <p:txBody>
          <a:bodyPr wrap="none" lIns="0" tIns="0" rIns="0" bIns="0" rtlCol="0" anchor="t"/>
          <a:lstStyle/>
          <a:p>
            <a:pPr algn="l" indent="0" marL="0">
              <a:lnSpc>
                <a:spcPct val="107000"/>
              </a:lnSpc>
              <a:buNone/>
            </a:pPr>
            <a:r>
              <a:rPr lang="en-US" sz="1450" spc="116" kern="100" dirty="0">
                <a:solidFill>
                  <a:srgbClr val="F1CF55"/>
                </a:solidFill>
                <a:latin typeface="IBM Plex Sans" pitchFamily="34" charset="0"/>
                <a:ea typeface="IBM Plex Sans" pitchFamily="34" charset="-122"/>
                <a:cs typeface="IBM Plex Sans" pitchFamily="34" charset="-120"/>
              </a:rPr>
              <a:t>PROOF</a:t>
            </a:r>
            <a:endParaRPr lang="en-US" sz="1450" dirty="0"/>
          </a:p>
        </p:txBody>
      </p:sp>
      <p:pic>
        <p:nvPicPr>
          <p:cNvPr id="7" name="Image 0" descr="preencoded.png">    </p:cNvPr>
          <p:cNvPicPr>
            <a:picLocks noChangeAspect="1"/>
          </p:cNvPicPr>
          <p:nvPr/>
        </p:nvPicPr>
        <p:blipFill>
          <a:blip r:embed="rId1"/>
          <a:stretch>
            <a:fillRect/>
          </a:stretch>
        </p:blipFill>
        <p:spPr>
          <a:xfrm>
            <a:off x="5190102" y="1668363"/>
            <a:ext cx="1811391" cy="829766"/>
          </a:xfrm>
          <a:prstGeom prst="rect">
            <a:avLst/>
          </a:prstGeom>
        </p:spPr>
      </p:pic>
      <p:sp>
        <p:nvSpPr>
          <p:cNvPr id="8" name="Text 5"/>
          <p:cNvSpPr/>
          <p:nvPr/>
        </p:nvSpPr>
        <p:spPr>
          <a:xfrm>
            <a:off x="4495688" y="2590205"/>
            <a:ext cx="3200320" cy="1392238"/>
          </a:xfrm>
          <a:prstGeom prst="rect">
            <a:avLst/>
          </a:prstGeom>
          <a:noFill/>
          <a:ln/>
        </p:spPr>
        <p:txBody>
          <a:bodyPr wrap="square" lIns="0" tIns="0" rIns="0" bIns="0" rtlCol="0" anchor="t">
            <a:normAutofit/>
          </a:bodyPr>
          <a:lstStyle/>
          <a:p>
            <a:pPr algn="l" indent="0" marL="0">
              <a:lnSpc>
                <a:spcPct val="107000"/>
              </a:lnSpc>
              <a:spcAft>
                <a:spcPts val="700"/>
              </a:spcAft>
              <a:buNone/>
            </a:pPr>
            <a:r>
              <a:rPr lang="en-US" sz="2000" dirty="0">
                <a:solidFill>
                  <a:srgbClr val="E6EBE2"/>
                </a:solidFill>
                <a:latin typeface="IBM Plex Sans" pitchFamily="34" charset="0"/>
                <a:ea typeface="IBM Plex Sans" pitchFamily="34" charset="-122"/>
                <a:cs typeface="IBM Plex Sans" pitchFamily="34" charset="-120"/>
              </a:rPr>
              <a:t>With 19 rooms, 19 × 36 = 684 slots, 18 short of 702.</a:t>
            </a:r>
            <a:endParaRPr lang="en-US" sz="2000" dirty="0"/>
          </a:p>
          <a:p>
            <a:pPr algn="l" indent="0" marL="0">
              <a:lnSpc>
                <a:spcPct val="107000"/>
              </a:lnSpc>
              <a:buNone/>
            </a:pPr>
            <a:r>
              <a:rPr lang="en-US" sz="2000" b="1" dirty="0">
                <a:solidFill>
                  <a:srgbClr val="F1CF55"/>
                </a:solidFill>
                <a:latin typeface="IBM Plex Sans Bold" pitchFamily="34" charset="0"/>
                <a:ea typeface="IBM Plex Sans Bold" pitchFamily="34" charset="-122"/>
                <a:cs typeface="IBM Plex Sans Bold" pitchFamily="34" charset="-120"/>
              </a:rPr>
              <a:t>Fewer than 20 rooms is impossible.</a:t>
            </a:r>
            <a:endParaRPr lang="en-US" sz="2000" dirty="0"/>
          </a:p>
        </p:txBody>
      </p:sp>
      <p:sp>
        <p:nvSpPr>
          <p:cNvPr id="9" name="Text 6"/>
          <p:cNvSpPr/>
          <p:nvPr/>
        </p:nvSpPr>
        <p:spPr>
          <a:xfrm>
            <a:off x="8153196" y="1340644"/>
            <a:ext cx="3428914" cy="235645"/>
          </a:xfrm>
          <a:prstGeom prst="rect">
            <a:avLst/>
          </a:prstGeom>
          <a:noFill/>
          <a:ln/>
        </p:spPr>
        <p:txBody>
          <a:bodyPr wrap="none" lIns="0" tIns="0" rIns="0" bIns="0" rtlCol="0" anchor="t"/>
          <a:lstStyle/>
          <a:p>
            <a:pPr algn="l" indent="0" marL="0">
              <a:lnSpc>
                <a:spcPct val="107000"/>
              </a:lnSpc>
              <a:buNone/>
            </a:pPr>
            <a:r>
              <a:rPr lang="en-US" sz="1450" spc="116" kern="100" dirty="0">
                <a:solidFill>
                  <a:srgbClr val="F1CF55"/>
                </a:solidFill>
                <a:latin typeface="IBM Plex Sans" pitchFamily="34" charset="0"/>
                <a:ea typeface="IBM Plex Sans" pitchFamily="34" charset="-122"/>
                <a:cs typeface="IBM Plex Sans" pitchFamily="34" charset="-120"/>
              </a:rPr>
              <a:t>TECHNIQUE</a:t>
            </a:r>
            <a:endParaRPr lang="en-US" sz="1450" dirty="0"/>
          </a:p>
        </p:txBody>
      </p:sp>
      <p:sp>
        <p:nvSpPr>
          <p:cNvPr id="10" name="Text 7"/>
          <p:cNvSpPr/>
          <p:nvPr/>
        </p:nvSpPr>
        <p:spPr>
          <a:xfrm>
            <a:off x="8153196" y="1639788"/>
            <a:ext cx="3200320" cy="315416"/>
          </a:xfrm>
          <a:prstGeom prst="rect">
            <a:avLst/>
          </a:prstGeom>
          <a:noFill/>
          <a:ln/>
        </p:spPr>
        <p:txBody>
          <a:bodyPr wrap="none" lIns="0" tIns="0" rIns="0" bIns="0" rtlCol="0" anchor="t"/>
          <a:lstStyle/>
          <a:p>
            <a:pPr algn="l" indent="0" marL="0">
              <a:lnSpc>
                <a:spcPct val="90000"/>
              </a:lnSpc>
              <a:buNone/>
            </a:pPr>
            <a:r>
              <a:rPr lang="en-US" sz="2300" spc="-23" kern="100" dirty="0">
                <a:solidFill>
                  <a:srgbClr val="E6EBE2"/>
                </a:solidFill>
                <a:latin typeface="IBM Plex Sans SemiBold" pitchFamily="34" charset="0"/>
                <a:ea typeface="IBM Plex Sans SemiBold" pitchFamily="34" charset="-122"/>
                <a:cs typeface="IBM Plex Sans SemiBold" pitchFamily="34" charset="-120"/>
              </a:rPr>
              <a:t>DSatur + repair</a:t>
            </a:r>
            <a:endParaRPr lang="en-US" sz="2300" dirty="0"/>
          </a:p>
        </p:txBody>
      </p:sp>
      <p:sp>
        <p:nvSpPr>
          <p:cNvPr id="11" name="Text 8"/>
          <p:cNvSpPr/>
          <p:nvPr/>
        </p:nvSpPr>
        <p:spPr>
          <a:xfrm>
            <a:off x="8153196" y="2066330"/>
            <a:ext cx="3200320" cy="2784475"/>
          </a:xfrm>
          <a:prstGeom prst="rect">
            <a:avLst/>
          </a:prstGeom>
          <a:noFill/>
          <a:ln/>
        </p:spPr>
        <p:txBody>
          <a:bodyPr wrap="square" lIns="0" tIns="0" rIns="0" bIns="0" rtlCol="0" anchor="t">
            <a:normAutofit/>
          </a:bodyPr>
          <a:lstStyle/>
          <a:p>
            <a:pPr algn="l" indent="0" marL="0">
              <a:lnSpc>
                <a:spcPct val="107000"/>
              </a:lnSpc>
              <a:spcAft>
                <a:spcPts val="700"/>
              </a:spcAft>
              <a:buNone/>
            </a:pPr>
            <a:r>
              <a:rPr lang="en-US" sz="2000" dirty="0">
                <a:solidFill>
                  <a:srgbClr val="E6EBE2"/>
                </a:solidFill>
                <a:latin typeface="IBM Plex Sans" pitchFamily="34" charset="0"/>
                <a:ea typeface="IBM Plex Sans" pitchFamily="34" charset="-122"/>
                <a:cs typeface="IBM Plex Sans" pitchFamily="34" charset="-120"/>
              </a:rPr>
              <a:t>Greedy DSatur, local search repair, and polish, checked against the lower bound.</a:t>
            </a:r>
            <a:endParaRPr lang="en-US" sz="2000" dirty="0"/>
          </a:p>
          <a:p>
            <a:pPr algn="l" indent="0" marL="0">
              <a:lnSpc>
                <a:spcPct val="107000"/>
              </a:lnSpc>
              <a:spcAft>
                <a:spcPts val="700"/>
              </a:spcAft>
              <a:buNone/>
            </a:pPr>
            <a:r>
              <a:rPr lang="en-US" sz="2000" dirty="0">
                <a:solidFill>
                  <a:srgbClr val="E6EBE2"/>
                </a:solidFill>
                <a:latin typeface="IBM Plex Sans" pitchFamily="34" charset="0"/>
                <a:ea typeface="IBM Plex Sans" pitchFamily="34" charset="-122"/>
                <a:cs typeface="IBM Plex Sans" pitchFamily="34" charset="-120"/>
              </a:rPr>
              <a:t>Exact minimum is NP-hard.</a:t>
            </a:r>
            <a:endParaRPr lang="en-US" sz="2000" dirty="0"/>
          </a:p>
          <a:p>
            <a:pPr algn="l" indent="0" marL="0">
              <a:lnSpc>
                <a:spcPct val="107000"/>
              </a:lnSpc>
              <a:buNone/>
            </a:pPr>
            <a:r>
              <a:rPr lang="en-US" sz="2000" dirty="0">
                <a:solidFill>
                  <a:srgbClr val="E6EBE2"/>
                </a:solidFill>
                <a:latin typeface="IBM Plex Sans" pitchFamily="34" charset="0"/>
                <a:ea typeface="IBM Plex Sans" pitchFamily="34" charset="-122"/>
                <a:cs typeface="IBM Plex Sans" pitchFamily="34" charset="-120"/>
              </a:rPr>
              <a:t>Not used: shortest-path, spanning-tree, dynamic-programming, or divide-and-conquer algorithms.</a:t>
            </a:r>
            <a:endParaRPr lang="en-US" sz="2000" dirty="0"/>
          </a:p>
        </p:txBody>
      </p:sp>
      <p:sp>
        <p:nvSpPr>
          <p:cNvPr id="12" name="Shape 9"/>
          <p:cNvSpPr/>
          <p:nvPr/>
        </p:nvSpPr>
        <p:spPr>
          <a:xfrm>
            <a:off x="4260743" y="1162844"/>
            <a:ext cx="12700" cy="5085556"/>
          </a:xfrm>
          <a:prstGeom prst="rect">
            <a:avLst/>
          </a:prstGeom>
          <a:solidFill>
            <a:srgbClr val="FFFFFF">
              <a:alpha val="24000"/>
            </a:srgbClr>
          </a:solidFill>
          <a:ln/>
        </p:spPr>
      </p:sp>
      <p:sp>
        <p:nvSpPr>
          <p:cNvPr id="13" name="Shape 10"/>
          <p:cNvSpPr/>
          <p:nvPr/>
        </p:nvSpPr>
        <p:spPr>
          <a:xfrm>
            <a:off x="7918252" y="1162844"/>
            <a:ext cx="12700" cy="5085556"/>
          </a:xfrm>
          <a:prstGeom prst="rect">
            <a:avLst/>
          </a:prstGeom>
          <a:solidFill>
            <a:srgbClr val="FFFFFF">
              <a:alpha val="24000"/>
            </a:srgbClr>
          </a:solidFill>
          <a:ln/>
        </p:spPr>
      </p:sp>
      <p:sp>
        <p:nvSpPr>
          <p:cNvPr id="14" name="Text 11"/>
          <p:cNvSpPr/>
          <p:nvPr/>
        </p:nvSpPr>
        <p:spPr>
          <a:xfrm>
            <a:off x="11475354" y="6528296"/>
            <a:ext cx="716341" cy="227509"/>
          </a:xfrm>
          <a:prstGeom prst="rect">
            <a:avLst/>
          </a:prstGeom>
          <a:noFill/>
          <a:ln/>
        </p:spPr>
        <p:txBody>
          <a:bodyPr wrap="none" lIns="0" tIns="0" rIns="0" bIns="0" rtlCol="0" anchor="ctr"/>
          <a:lstStyle/>
          <a:p>
            <a:pPr algn="l" indent="0" marL="0">
              <a:lnSpc>
                <a:spcPct val="107000"/>
              </a:lnSpc>
              <a:buNone/>
            </a:pPr>
            <a:r>
              <a:rPr lang="en-US" sz="1400" dirty="0">
                <a:solidFill>
                  <a:srgbClr val="E6EBE2"/>
                </a:solidFill>
                <a:latin typeface="IBM Plex Sans" pitchFamily="34" charset="0"/>
                <a:ea typeface="IBM Plex Sans" pitchFamily="34" charset="-122"/>
                <a:cs typeface="IBM Plex Sans" pitchFamily="34" charset="-120"/>
              </a:rPr>
              <a:t>4</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609585" y="1143595"/>
            <a:ext cx="10972526" cy="397669"/>
          </a:xfrm>
          <a:prstGeom prst="rect">
            <a:avLst/>
          </a:prstGeom>
          <a:noFill/>
          <a:ln/>
        </p:spPr>
        <p:txBody>
          <a:bodyPr wrap="none" lIns="0" tIns="0" rIns="0" bIns="0" rtlCol="0" anchor="t"/>
          <a:lstStyle/>
          <a:p>
            <a:pPr algn="l" indent="0" marL="0">
              <a:lnSpc>
                <a:spcPct val="90000"/>
              </a:lnSpc>
              <a:buNone/>
            </a:pPr>
            <a:r>
              <a:rPr lang="en-US" sz="2900" spc="-29" kern="100" dirty="0">
                <a:solidFill>
                  <a:srgbClr val="E6EBE2"/>
                </a:solidFill>
                <a:latin typeface="Bebas Neue" pitchFamily="34" charset="0"/>
                <a:ea typeface="Bebas Neue" pitchFamily="34" charset="-122"/>
                <a:cs typeface="Bebas Neue" pitchFamily="34" charset="-120"/>
              </a:rPr>
              <a:t>Algorithm and Pseudocode</a:t>
            </a:r>
            <a:endParaRPr lang="en-US" sz="2900" dirty="0"/>
          </a:p>
        </p:txBody>
      </p:sp>
      <p:sp>
        <p:nvSpPr>
          <p:cNvPr id="3" name="Text 1"/>
          <p:cNvSpPr/>
          <p:nvPr/>
        </p:nvSpPr>
        <p:spPr>
          <a:xfrm>
            <a:off x="609585" y="1696839"/>
            <a:ext cx="5333867" cy="235645"/>
          </a:xfrm>
          <a:prstGeom prst="rect">
            <a:avLst/>
          </a:prstGeom>
          <a:noFill/>
          <a:ln/>
        </p:spPr>
        <p:txBody>
          <a:bodyPr wrap="none" lIns="0" tIns="0" rIns="0" bIns="0" rtlCol="0" anchor="t"/>
          <a:lstStyle/>
          <a:p>
            <a:pPr algn="l" indent="0" marL="0">
              <a:lnSpc>
                <a:spcPct val="107000"/>
              </a:lnSpc>
              <a:buNone/>
            </a:pPr>
            <a:r>
              <a:rPr lang="en-US" sz="1450" spc="116" kern="100" dirty="0">
                <a:solidFill>
                  <a:srgbClr val="F1CF55"/>
                </a:solidFill>
                <a:latin typeface="IBM Plex Sans" pitchFamily="34" charset="0"/>
                <a:ea typeface="IBM Plex Sans" pitchFamily="34" charset="-122"/>
                <a:cs typeface="IBM Plex Sans" pitchFamily="34" charset="-120"/>
              </a:rPr>
              <a:t>ALGORITHM</a:t>
            </a:r>
            <a:endParaRPr lang="en-US" sz="1450" dirty="0"/>
          </a:p>
        </p:txBody>
      </p:sp>
      <p:sp>
        <p:nvSpPr>
          <p:cNvPr id="4" name="Text 2"/>
          <p:cNvSpPr/>
          <p:nvPr/>
        </p:nvSpPr>
        <p:spPr>
          <a:xfrm>
            <a:off x="609585" y="2024559"/>
            <a:ext cx="5333867" cy="3689747"/>
          </a:xfrm>
          <a:prstGeom prst="rect">
            <a:avLst/>
          </a:prstGeom>
          <a:noFill/>
          <a:ln/>
        </p:spPr>
        <p:txBody>
          <a:bodyPr wrap="square" lIns="0" tIns="0" rIns="0" bIns="0" rtlCol="0" anchor="t">
            <a:normAutofit/>
          </a:bodyPr>
          <a:lstStyle/>
          <a:p>
            <a:pPr algn="l" marL="406400" indent="-406400">
              <a:lnSpc>
                <a:spcPct val="107000"/>
              </a:lnSpc>
              <a:buSzPct val="100000"/>
              <a:buFont typeface="+mj-lt"/>
              <a:buAutoNum type="arabicPeriod" startAt="1"/>
            </a:pPr>
            <a:r>
              <a:rPr lang="en-US" sz="2000" dirty="0">
                <a:solidFill>
                  <a:srgbClr val="E6EBE2"/>
                </a:solidFill>
                <a:latin typeface="IBM Plex Sans" pitchFamily="34" charset="0"/>
                <a:ea typeface="IBM Plex Sans" pitchFamily="34" charset="-122"/>
                <a:cs typeface="IBM Plex Sans" pitchFamily="34" charset="-120"/>
              </a:rPr>
              <a:t>Build the conflict graph.</a:t>
            </a:r>
            <a:endParaRPr lang="en-US" sz="2000" dirty="0"/>
          </a:p>
          <a:p>
            <a:pPr algn="l" marL="406400" indent="-406400">
              <a:lnSpc>
                <a:spcPct val="107000"/>
              </a:lnSpc>
              <a:buSzPct val="100000"/>
              <a:buFont typeface="+mj-lt"/>
              <a:buAutoNum type="arabicPeriod" startAt="2"/>
            </a:pPr>
            <a:r>
              <a:rPr lang="en-US" sz="2000" dirty="0">
                <a:solidFill>
                  <a:srgbClr val="E6EBE2"/>
                </a:solidFill>
                <a:latin typeface="IBM Plex Sans" pitchFamily="34" charset="0"/>
                <a:ea typeface="IBM Plex Sans" pitchFamily="34" charset="-122"/>
                <a:cs typeface="IBM Plex Sans" pitchFamily="34" charset="-120"/>
              </a:rPr>
              <a:t>Select the uncolored class with highest saturation, then degree; assign the least-loaded free period.</a:t>
            </a:r>
            <a:endParaRPr lang="en-US" sz="2000" dirty="0"/>
          </a:p>
          <a:p>
            <a:pPr algn="l" marL="406400" indent="-406400">
              <a:lnSpc>
                <a:spcPct val="107000"/>
              </a:lnSpc>
              <a:buSzPct val="100000"/>
              <a:buFont typeface="+mj-lt"/>
              <a:buAutoNum type="arabicPeriod" startAt="3"/>
            </a:pPr>
            <a:r>
              <a:rPr lang="en-US" sz="2000" dirty="0">
                <a:solidFill>
                  <a:srgbClr val="E6EBE2"/>
                </a:solidFill>
                <a:latin typeface="IBM Plex Sans" pitchFamily="34" charset="0"/>
                <a:ea typeface="IBM Plex Sans" pitchFamily="34" charset="-122"/>
                <a:cs typeface="IBM Plex Sans" pitchFamily="34" charset="-120"/>
              </a:rPr>
              <a:t>Repair the fullest period with ejection chains; polish same-subject-twice-a-day cases without increasing the busiest period.</a:t>
            </a:r>
            <a:endParaRPr lang="en-US" sz="2000" dirty="0"/>
          </a:p>
          <a:p>
            <a:pPr algn="l" marL="406400" indent="-406400">
              <a:lnSpc>
                <a:spcPct val="107000"/>
              </a:lnSpc>
              <a:buSzPct val="100000"/>
              <a:buFont typeface="+mj-lt"/>
              <a:buAutoNum type="arabicPeriod" startAt="4"/>
            </a:pPr>
            <a:r>
              <a:rPr lang="en-US" sz="2000" dirty="0">
                <a:solidFill>
                  <a:srgbClr val="E6EBE2"/>
                </a:solidFill>
                <a:latin typeface="IBM Plex Sans" pitchFamily="34" charset="0"/>
                <a:ea typeface="IBM Plex Sans" pitchFamily="34" charset="-122"/>
                <a:cs typeface="IBM Plex Sans" pitchFamily="34" charset="-120"/>
              </a:rPr>
              <a:t>Use seeded restarts if the lower bound is not reached; assign rooms after periods are fixed; verify.</a:t>
            </a:r>
            <a:endParaRPr lang="en-US" sz="2000" dirty="0"/>
          </a:p>
        </p:txBody>
      </p:sp>
      <p:sp>
        <p:nvSpPr>
          <p:cNvPr id="5" name="Text 3"/>
          <p:cNvSpPr/>
          <p:nvPr/>
        </p:nvSpPr>
        <p:spPr>
          <a:xfrm>
            <a:off x="6248244" y="1696839"/>
            <a:ext cx="5333867" cy="235645"/>
          </a:xfrm>
          <a:prstGeom prst="rect">
            <a:avLst/>
          </a:prstGeom>
          <a:noFill/>
          <a:ln/>
        </p:spPr>
        <p:txBody>
          <a:bodyPr wrap="none" lIns="0" tIns="0" rIns="0" bIns="0" rtlCol="0" anchor="t"/>
          <a:lstStyle/>
          <a:p>
            <a:pPr algn="l" indent="0" marL="0">
              <a:lnSpc>
                <a:spcPct val="107000"/>
              </a:lnSpc>
              <a:buNone/>
            </a:pPr>
            <a:r>
              <a:rPr lang="en-US" sz="1450" spc="116" kern="100" dirty="0">
                <a:solidFill>
                  <a:srgbClr val="F1CF55"/>
                </a:solidFill>
                <a:latin typeface="IBM Plex Sans" pitchFamily="34" charset="0"/>
                <a:ea typeface="IBM Plex Sans" pitchFamily="34" charset="-122"/>
                <a:cs typeface="IBM Plex Sans" pitchFamily="34" charset="-120"/>
              </a:rPr>
              <a:t>PSEUDOCODE</a:t>
            </a:r>
            <a:endParaRPr lang="en-US" sz="1450" dirty="0"/>
          </a:p>
        </p:txBody>
      </p:sp>
      <p:sp>
        <p:nvSpPr>
          <p:cNvPr id="6" name="Text 4"/>
          <p:cNvSpPr/>
          <p:nvPr/>
        </p:nvSpPr>
        <p:spPr>
          <a:xfrm>
            <a:off x="6248244" y="2024559"/>
            <a:ext cx="5333867" cy="2616696"/>
          </a:xfrm>
          <a:prstGeom prst="rect">
            <a:avLst/>
          </a:prstGeom>
          <a:noFill/>
          <a:ln/>
        </p:spPr>
        <p:txBody>
          <a:bodyPr wrap="square" lIns="0" tIns="0" rIns="0" bIns="0" rtlCol="0" anchor="t">
            <a:normAutofit/>
          </a:bodyPr>
          <a:lstStyle/>
          <a:p>
            <a:pPr algn="l" indent="0" marL="0">
              <a:lnSpc>
                <a:spcPct val="107000"/>
              </a:lnSpc>
              <a:spcAft>
                <a:spcPts val="700"/>
              </a:spcAft>
              <a:buNone/>
            </a:pPr>
            <a:r>
              <a:rPr lang="en-US" sz="1600" b="1" dirty="0">
                <a:solidFill>
                  <a:srgbClr val="E6EBE2"/>
                </a:solidFill>
                <a:latin typeface="IBM Plex Sans Bold" pitchFamily="34" charset="0"/>
                <a:ea typeface="IBM Plex Sans Bold" pitchFamily="34" charset="-122"/>
                <a:cs typeface="IBM Plex Sans Bold" pitchFamily="34" charset="-120"/>
              </a:rPr>
              <a:t>DSATUR(G, T):</a:t>
            </a:r>
            <a:pPr algn="l" indent="0" marL="0">
              <a:lnSpc>
                <a:spcPct val="107000"/>
              </a:lnSpc>
              <a:spcAft>
                <a:spcPts val="700"/>
              </a:spcAft>
              <a:buNone/>
            </a:pPr>
            <a:r>
              <a:rPr lang="en-US" sz="1600" dirty="0">
                <a:solidFill>
                  <a:srgbClr val="E6EBE2"/>
                </a:solidFill>
                <a:latin typeface="IBM Plex Sans" pitchFamily="34" charset="0"/>
                <a:ea typeface="IBM Plex Sans" pitchFamily="34" charset="-122"/>
                <a:cs typeface="IBM Plex Sans" pitchFamily="34" charset="-120"/>
              </a:rPr>
              <a:t> while some vertex is uncolored, choose v by saturation then degree; choose t as the least-loaded period not used by a neighbour; color v with t.</a:t>
            </a:r>
            <a:endParaRPr lang="en-US" sz="1600" dirty="0"/>
          </a:p>
          <a:p>
            <a:pPr algn="l" indent="0" marL="0">
              <a:lnSpc>
                <a:spcPct val="107000"/>
              </a:lnSpc>
              <a:spcAft>
                <a:spcPts val="700"/>
              </a:spcAft>
              <a:buNone/>
            </a:pPr>
            <a:r>
              <a:rPr lang="en-US" sz="1600" dirty="0">
                <a:solidFill>
                  <a:srgbClr val="E6EBE2"/>
                </a:solidFill>
                <a:latin typeface="IBM Plex Sans" pitchFamily="34" charset="0"/>
                <a:ea typeface="IBM Plex Sans" pitchFamily="34" charset="-122"/>
                <a:cs typeface="IBM Plex Sans" pitchFamily="34" charset="-120"/>
              </a:rPr>
              <a:t>rooms = max classes in any period.</a:t>
            </a:r>
            <a:endParaRPr lang="en-US" sz="1600" dirty="0"/>
          </a:p>
          <a:p>
            <a:pPr algn="l" indent="0" marL="0">
              <a:lnSpc>
                <a:spcPct val="107000"/>
              </a:lnSpc>
              <a:spcAft>
                <a:spcPts val="700"/>
              </a:spcAft>
              <a:buNone/>
            </a:pPr>
            <a:r>
              <a:rPr lang="en-US" sz="1600" b="1" dirty="0">
                <a:solidFill>
                  <a:srgbClr val="E6EBE2"/>
                </a:solidFill>
                <a:latin typeface="IBM Plex Sans Bold" pitchFamily="34" charset="0"/>
                <a:ea typeface="IBM Plex Sans Bold" pitchFamily="34" charset="-122"/>
                <a:cs typeface="IBM Plex Sans Bold" pitchFamily="34" charset="-120"/>
              </a:rPr>
              <a:t>REPAIR</a:t>
            </a:r>
            <a:pPr algn="l" indent="0" marL="0">
              <a:lnSpc>
                <a:spcPct val="107000"/>
              </a:lnSpc>
              <a:spcAft>
                <a:spcPts val="700"/>
              </a:spcAft>
              <a:buNone/>
            </a:pPr>
            <a:r>
              <a:rPr lang="en-US" sz="1600" dirty="0">
                <a:solidFill>
                  <a:srgbClr val="E6EBE2"/>
                </a:solidFill>
                <a:latin typeface="IBM Plex Sans" pitchFamily="34" charset="0"/>
                <a:ea typeface="IBM Plex Sans" pitchFamily="34" charset="-122"/>
                <a:cs typeface="IBM Plex Sans" pitchFamily="34" charset="-120"/>
              </a:rPr>
              <a:t> repeats while rooms &gt; lower bound: repair the fullest period with ejection chains; polish same-subject-twice-a-day cases without increasing the busiest period.</a:t>
            </a:r>
            <a:endParaRPr lang="en-US" sz="1600" dirty="0"/>
          </a:p>
          <a:p>
            <a:pPr algn="l" indent="0" marL="0">
              <a:lnSpc>
                <a:spcPct val="107000"/>
              </a:lnSpc>
              <a:buNone/>
            </a:pPr>
            <a:r>
              <a:rPr lang="en-US" sz="1600" dirty="0">
                <a:solidFill>
                  <a:srgbClr val="E6EBE2"/>
                </a:solidFill>
                <a:latin typeface="IBM Plex Sans" pitchFamily="34" charset="0"/>
                <a:ea typeface="IBM Plex Sans" pitchFamily="34" charset="-122"/>
                <a:cs typeface="IBM Plex Sans" pitchFamily="34" charset="-120"/>
              </a:rPr>
              <a:t>Use seeded restarts if the lower bound is not reached; assign rooms after periods are fixed; verify.</a:t>
            </a:r>
            <a:endParaRPr lang="en-US" sz="1600" dirty="0"/>
          </a:p>
        </p:txBody>
      </p:sp>
      <p:sp>
        <p:nvSpPr>
          <p:cNvPr id="7" name="Text 5"/>
          <p:cNvSpPr/>
          <p:nvPr/>
        </p:nvSpPr>
        <p:spPr>
          <a:xfrm>
            <a:off x="11475354" y="6528296"/>
            <a:ext cx="716341" cy="227509"/>
          </a:xfrm>
          <a:prstGeom prst="rect">
            <a:avLst/>
          </a:prstGeom>
          <a:noFill/>
          <a:ln/>
        </p:spPr>
        <p:txBody>
          <a:bodyPr wrap="none" lIns="0" tIns="0" rIns="0" bIns="0" rtlCol="0" anchor="ctr"/>
          <a:lstStyle/>
          <a:p>
            <a:pPr algn="l" indent="0" marL="0">
              <a:lnSpc>
                <a:spcPct val="107000"/>
              </a:lnSpc>
              <a:buNone/>
            </a:pPr>
            <a:r>
              <a:rPr lang="en-US" sz="1400" dirty="0">
                <a:solidFill>
                  <a:srgbClr val="E6EBE2"/>
                </a:solidFill>
                <a:latin typeface="IBM Plex Sans" pitchFamily="34" charset="0"/>
                <a:ea typeface="IBM Plex Sans" pitchFamily="34" charset="-122"/>
                <a:cs typeface="IBM Plex Sans" pitchFamily="34" charset="-120"/>
              </a:rPr>
              <a:t>5</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609585" y="609600"/>
            <a:ext cx="10972526" cy="397669"/>
          </a:xfrm>
          <a:prstGeom prst="rect">
            <a:avLst/>
          </a:prstGeom>
          <a:noFill/>
          <a:ln/>
        </p:spPr>
        <p:txBody>
          <a:bodyPr wrap="none" lIns="0" tIns="0" rIns="0" bIns="0" rtlCol="0" anchor="t"/>
          <a:lstStyle/>
          <a:p>
            <a:pPr algn="l" indent="0" marL="0">
              <a:lnSpc>
                <a:spcPct val="90000"/>
              </a:lnSpc>
              <a:buNone/>
            </a:pPr>
            <a:r>
              <a:rPr lang="en-US" sz="2900" spc="-29" kern="100" dirty="0">
                <a:solidFill>
                  <a:srgbClr val="E6EBE2"/>
                </a:solidFill>
                <a:latin typeface="Bebas Neue" pitchFamily="34" charset="0"/>
                <a:ea typeface="Bebas Neue" pitchFamily="34" charset="-122"/>
                <a:cs typeface="Bebas Neue" pitchFamily="34" charset="-120"/>
              </a:rPr>
              <a:t>Complexity Analysis</a:t>
            </a:r>
            <a:endParaRPr lang="en-US" sz="29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609585" y="1162844"/>
          <a:ext cx="10972526" cy="914400"/>
        </p:xfrm>
        <a:graphic>
          <a:graphicData uri="http://schemas.openxmlformats.org/drawingml/2006/table">
            <a:tbl>
              <a:tblPr/>
              <a:tblGrid>
                <a:gridCol w="2633398"/>
                <a:gridCol w="8339127"/>
              </a:tblGrid>
              <a:tr h="540927">
                <a:tc>
                  <a:txBody>
                    <a:bodyPr/>
                    <a:lstStyle/>
                    <a:p>
                      <a:pPr algn="l" indent="0" marL="0">
                        <a:buNone/>
                      </a:pPr>
                      <a:r>
                        <a:rPr lang="en-US" sz="2000" dirty="0">
                          <a:solidFill>
                            <a:srgbClr val="E6EBE2"/>
                          </a:solidFill>
                          <a:latin typeface="IBM Plex Sans" pitchFamily="34" charset="0"/>
                          <a:ea typeface="IBM Plex Sans" pitchFamily="34" charset="-122"/>
                          <a:cs typeface="IBM Plex Sans" pitchFamily="34" charset="-120"/>
                        </a:rPr>
                        <a:t>Stage</a:t>
                      </a:r>
                      <a:endParaRPr lang="en-US" sz="2000" dirty="0">
                        <a:latin typeface="IBM Plex Sans" charset="0"/>
                        <a:ea typeface="IBM Plex Sans" charset="0"/>
                        <a:cs typeface="IBM Plex Sans" charset="0"/>
                      </a:endParaRPr>
                    </a:p>
                  </a:txBody>
                  <a:tcPr marL="190495" marR="190495" marT="101598" marB="101598" anchor="ctr">
                    <a:lnL w="12700" cap="flat" cmpd="sng" algn="ctr">
                      <a:solidFill>
                        <a:srgbClr val="1D2A25"/>
                      </a:solidFill>
                      <a:prstDash val="solid"/>
                      <a:round/>
                      <a:headEnd type="none" w="med" len="med"/>
                      <a:tailEnd type="none" w="med" len="med"/>
                    </a:lnL>
                    <a:lnR w="12700" cap="flat" cmpd="sng" algn="ctr">
                      <a:solidFill>
                        <a:srgbClr val="1D2A25"/>
                      </a:solidFill>
                      <a:prstDash val="solid"/>
                      <a:round/>
                      <a:headEnd type="none" w="med" len="med"/>
                      <a:tailEnd type="none" w="med" len="med"/>
                    </a:lnR>
                    <a:lnT w="12700" cap="flat" cmpd="sng" algn="ctr">
                      <a:solidFill>
                        <a:srgbClr val="1D2A25"/>
                      </a:solidFill>
                      <a:prstDash val="solid"/>
                      <a:round/>
                      <a:headEnd type="none" w="med" len="med"/>
                      <a:tailEnd type="none" w="med" len="med"/>
                    </a:lnT>
                    <a:lnB w="12700" cap="flat" cmpd="sng" algn="ctr">
                      <a:solidFill>
                        <a:srgbClr val="535D59"/>
                      </a:solidFill>
                      <a:prstDash val="solid"/>
                      <a:round/>
                      <a:headEnd type="none" w="med" len="med"/>
                      <a:tailEnd type="none" w="med" len="med"/>
                    </a:lnB>
                  </a:tcPr>
                </a:tc>
                <a:tc>
                  <a:txBody>
                    <a:bodyPr/>
                    <a:lstStyle/>
                    <a:p>
                      <a:pPr algn="r" indent="0" marL="0">
                        <a:buNone/>
                      </a:pPr>
                      <a:r>
                        <a:rPr lang="en-US" sz="2000" dirty="0">
                          <a:solidFill>
                            <a:srgbClr val="E6EBE2"/>
                          </a:solidFill>
                          <a:latin typeface="IBM Plex Sans" pitchFamily="34" charset="0"/>
                          <a:ea typeface="IBM Plex Sans" pitchFamily="34" charset="-122"/>
                          <a:cs typeface="IBM Plex Sans" pitchFamily="34" charset="-120"/>
                        </a:rPr>
                        <a:t>Complexity / bound</a:t>
                      </a:r>
                      <a:endParaRPr lang="en-US" sz="2000" dirty="0">
                        <a:latin typeface="IBM Plex Sans" charset="0"/>
                        <a:ea typeface="IBM Plex Sans" charset="0"/>
                        <a:cs typeface="IBM Plex Sans" charset="0"/>
                      </a:endParaRPr>
                    </a:p>
                  </a:txBody>
                  <a:tcPr marL="190495" marR="190495" marT="101598" marB="101598" anchor="ctr">
                    <a:lnL w="12700" cap="flat" cmpd="sng" algn="ctr">
                      <a:solidFill>
                        <a:srgbClr val="1D2A25"/>
                      </a:solidFill>
                      <a:prstDash val="solid"/>
                      <a:round/>
                      <a:headEnd type="none" w="med" len="med"/>
                      <a:tailEnd type="none" w="med" len="med"/>
                    </a:lnL>
                    <a:lnR w="12700" cap="flat" cmpd="sng" algn="ctr">
                      <a:solidFill>
                        <a:srgbClr val="1D2A25"/>
                      </a:solidFill>
                      <a:prstDash val="solid"/>
                      <a:round/>
                      <a:headEnd type="none" w="med" len="med"/>
                      <a:tailEnd type="none" w="med" len="med"/>
                    </a:lnR>
                    <a:lnT w="12700" cap="flat" cmpd="sng" algn="ctr">
                      <a:solidFill>
                        <a:srgbClr val="1D2A25"/>
                      </a:solidFill>
                      <a:prstDash val="solid"/>
                      <a:round/>
                      <a:headEnd type="none" w="med" len="med"/>
                      <a:tailEnd type="none" w="med" len="med"/>
                    </a:lnT>
                    <a:lnB w="12700" cap="flat" cmpd="sng" algn="ctr">
                      <a:solidFill>
                        <a:srgbClr val="535D59"/>
                      </a:solidFill>
                      <a:prstDash val="solid"/>
                      <a:round/>
                      <a:headEnd type="none" w="med" len="med"/>
                      <a:tailEnd type="none" w="med" len="med"/>
                    </a:lnB>
                  </a:tcPr>
                </a:tc>
              </a:tr>
              <a:tr h="865960">
                <a:tc>
                  <a:txBody>
                    <a:bodyPr/>
                    <a:lstStyle/>
                    <a:p>
                      <a:pPr algn="l" indent="0" marL="0">
                        <a:buNone/>
                      </a:pPr>
                      <a:r>
                        <a:rPr lang="en-US" sz="2000" b="1" dirty="0">
                          <a:solidFill>
                            <a:srgbClr val="E6EBE2"/>
                          </a:solidFill>
                          <a:latin typeface="IBM Plex Sans" pitchFamily="34" charset="0"/>
                          <a:ea typeface="IBM Plex Sans" pitchFamily="34" charset="-122"/>
                          <a:cs typeface="IBM Plex Sans" pitchFamily="34" charset="-120"/>
                        </a:rPr>
                        <a:t>DSatur</a:t>
                      </a:r>
                      <a:endParaRPr lang="en-US" sz="2000" dirty="0">
                        <a:latin typeface="IBM Plex Sans" charset="0"/>
                        <a:ea typeface="IBM Plex Sans" charset="0"/>
                        <a:cs typeface="IBM Plex Sans" charset="0"/>
                      </a:endParaRPr>
                    </a:p>
                  </a:txBody>
                  <a:tcPr marL="190495" marR="190495" marT="101598" marB="101598" anchor="ctr">
                    <a:lnL w="12700" cap="flat" cmpd="sng" algn="ctr">
                      <a:solidFill>
                        <a:srgbClr val="1D2A25"/>
                      </a:solidFill>
                      <a:prstDash val="solid"/>
                      <a:round/>
                      <a:headEnd type="none" w="med" len="med"/>
                      <a:tailEnd type="none" w="med" len="med"/>
                    </a:lnL>
                    <a:lnR w="12700" cap="flat" cmpd="sng" algn="ctr">
                      <a:solidFill>
                        <a:srgbClr val="1D2A25"/>
                      </a:solidFill>
                      <a:prstDash val="solid"/>
                      <a:round/>
                      <a:headEnd type="none" w="med" len="med"/>
                      <a:tailEnd type="none" w="med" len="med"/>
                    </a:lnR>
                    <a:lnT w="12700" cap="flat" cmpd="sng" algn="ctr">
                      <a:solidFill>
                        <a:srgbClr val="535D59"/>
                      </a:solidFill>
                      <a:prstDash val="solid"/>
                      <a:round/>
                      <a:headEnd type="none" w="med" len="med"/>
                      <a:tailEnd type="none" w="med" len="med"/>
                    </a:lnT>
                    <a:lnB w="12700" cap="flat" cmpd="sng" algn="ctr">
                      <a:solidFill>
                        <a:srgbClr val="535D59"/>
                      </a:solidFill>
                      <a:prstDash val="solid"/>
                      <a:round/>
                      <a:headEnd type="none" w="med" len="med"/>
                      <a:tailEnd type="none" w="med" len="med"/>
                    </a:lnB>
                  </a:tcPr>
                </a:tc>
                <a:tc>
                  <a:txBody>
                    <a:bodyPr/>
                    <a:lstStyle/>
                    <a:p>
                      <a:pPr algn="r" indent="0" marL="0">
                        <a:buNone/>
                      </a:pPr>
                      <a:r>
                        <a:rPr lang="en-US" sz="2000" dirty="0">
                          <a:solidFill>
                            <a:srgbClr val="E6EBE2"/>
                          </a:solidFill>
                          <a:latin typeface="IBM Plex Sans" pitchFamily="34" charset="0"/>
                          <a:ea typeface="IBM Plex Sans" pitchFamily="34" charset="-122"/>
                          <a:cs typeface="IBM Plex Sans" pitchFamily="34" charset="-120"/>
                        </a:rPr>
                        <a:t>O(n² + E); n steps scan up to n vertices; neighbour saturation updates contribute O(E). Given n = 702 and E = 12,345.</a:t>
                      </a:r>
                      <a:endParaRPr lang="en-US" sz="2000" dirty="0">
                        <a:latin typeface="IBM Plex Sans" charset="0"/>
                        <a:ea typeface="IBM Plex Sans" charset="0"/>
                        <a:cs typeface="IBM Plex Sans" charset="0"/>
                      </a:endParaRPr>
                    </a:p>
                  </a:txBody>
                  <a:tcPr marL="190495" marR="190495" marT="101598" marB="101598" anchor="ctr">
                    <a:lnL w="12700" cap="flat" cmpd="sng" algn="ctr">
                      <a:solidFill>
                        <a:srgbClr val="1D2A25"/>
                      </a:solidFill>
                      <a:prstDash val="solid"/>
                      <a:round/>
                      <a:headEnd type="none" w="med" len="med"/>
                      <a:tailEnd type="none" w="med" len="med"/>
                    </a:lnL>
                    <a:lnR w="12700" cap="flat" cmpd="sng" algn="ctr">
                      <a:solidFill>
                        <a:srgbClr val="1D2A25"/>
                      </a:solidFill>
                      <a:prstDash val="solid"/>
                      <a:round/>
                      <a:headEnd type="none" w="med" len="med"/>
                      <a:tailEnd type="none" w="med" len="med"/>
                    </a:lnR>
                    <a:lnT w="12700" cap="flat" cmpd="sng" algn="ctr">
                      <a:solidFill>
                        <a:srgbClr val="535D59"/>
                      </a:solidFill>
                      <a:prstDash val="solid"/>
                      <a:round/>
                      <a:headEnd type="none" w="med" len="med"/>
                      <a:tailEnd type="none" w="med" len="med"/>
                    </a:lnT>
                    <a:lnB w="12700" cap="flat" cmpd="sng" algn="ctr">
                      <a:solidFill>
                        <a:srgbClr val="535D59"/>
                      </a:solidFill>
                      <a:prstDash val="solid"/>
                      <a:round/>
                      <a:headEnd type="none" w="med" len="med"/>
                      <a:tailEnd type="none" w="med" len="med"/>
                    </a:lnB>
                  </a:tcPr>
                </a:tc>
              </a:tr>
              <a:tr h="865960">
                <a:tc>
                  <a:txBody>
                    <a:bodyPr/>
                    <a:lstStyle/>
                    <a:p>
                      <a:pPr algn="l" indent="0" marL="0">
                        <a:buNone/>
                      </a:pPr>
                      <a:r>
                        <a:rPr lang="en-US" sz="2000" b="1" dirty="0">
                          <a:solidFill>
                            <a:srgbClr val="E6EBE2"/>
                          </a:solidFill>
                          <a:latin typeface="IBM Plex Sans" pitchFamily="34" charset="0"/>
                          <a:ea typeface="IBM Plex Sans" pitchFamily="34" charset="-122"/>
                          <a:cs typeface="IBM Plex Sans" pitchFamily="34" charset="-120"/>
                        </a:rPr>
                        <a:t>Pipeline</a:t>
                      </a:r>
                      <a:endParaRPr lang="en-US" sz="2000" dirty="0">
                        <a:latin typeface="IBM Plex Sans" charset="0"/>
                        <a:ea typeface="IBM Plex Sans" charset="0"/>
                        <a:cs typeface="IBM Plex Sans" charset="0"/>
                      </a:endParaRPr>
                    </a:p>
                  </a:txBody>
                  <a:tcPr marL="190495" marR="190495" marT="101598" marB="101598" anchor="ctr">
                    <a:lnL w="12700" cap="flat" cmpd="sng" algn="ctr">
                      <a:solidFill>
                        <a:srgbClr val="1D2A25"/>
                      </a:solidFill>
                      <a:prstDash val="solid"/>
                      <a:round/>
                      <a:headEnd type="none" w="med" len="med"/>
                      <a:tailEnd type="none" w="med" len="med"/>
                    </a:lnL>
                    <a:lnR w="12700" cap="flat" cmpd="sng" algn="ctr">
                      <a:solidFill>
                        <a:srgbClr val="1D2A25"/>
                      </a:solidFill>
                      <a:prstDash val="solid"/>
                      <a:round/>
                      <a:headEnd type="none" w="med" len="med"/>
                      <a:tailEnd type="none" w="med" len="med"/>
                    </a:lnR>
                    <a:lnT w="12700" cap="flat" cmpd="sng" algn="ctr">
                      <a:solidFill>
                        <a:srgbClr val="535D59"/>
                      </a:solidFill>
                      <a:prstDash val="solid"/>
                      <a:round/>
                      <a:headEnd type="none" w="med" len="med"/>
                      <a:tailEnd type="none" w="med" len="med"/>
                    </a:lnT>
                    <a:lnB w="12700" cap="flat" cmpd="sng" algn="ctr">
                      <a:solidFill>
                        <a:srgbClr val="535D59"/>
                      </a:solidFill>
                      <a:prstDash val="solid"/>
                      <a:round/>
                      <a:headEnd type="none" w="med" len="med"/>
                      <a:tailEnd type="none" w="med" len="med"/>
                    </a:lnB>
                  </a:tcPr>
                </a:tc>
                <a:tc>
                  <a:txBody>
                    <a:bodyPr/>
                    <a:lstStyle/>
                    <a:p>
                      <a:pPr algn="r" indent="0" marL="0">
                        <a:buNone/>
                      </a:pPr>
                      <a:r>
                        <a:rPr lang="en-US" sz="2000" dirty="0">
                          <a:solidFill>
                            <a:srgbClr val="E6EBE2"/>
                          </a:solidFill>
                          <a:latin typeface="IBM Plex Sans" pitchFamily="34" charset="0"/>
                          <a:ea typeface="IBM Plex Sans" pitchFamily="34" charset="-122"/>
                          <a:cs typeface="IBM Plex Sans" pitchFamily="34" charset="-120"/>
                        </a:rPr>
                        <a:t>LOWERBOUND: O(n² + E) + local search; repair capped at 20,000 iterations; polish at 5,000 iterations.</a:t>
                      </a:r>
                      <a:endParaRPr lang="en-US" sz="2000" dirty="0">
                        <a:latin typeface="IBM Plex Sans" charset="0"/>
                        <a:ea typeface="IBM Plex Sans" charset="0"/>
                        <a:cs typeface="IBM Plex Sans" charset="0"/>
                      </a:endParaRPr>
                    </a:p>
                  </a:txBody>
                  <a:tcPr marL="190495" marR="190495" marT="101598" marB="101598" anchor="ctr">
                    <a:lnL w="12700" cap="flat" cmpd="sng" algn="ctr">
                      <a:solidFill>
                        <a:srgbClr val="1D2A25"/>
                      </a:solidFill>
                      <a:prstDash val="solid"/>
                      <a:round/>
                      <a:headEnd type="none" w="med" len="med"/>
                      <a:tailEnd type="none" w="med" len="med"/>
                    </a:lnL>
                    <a:lnR w="12700" cap="flat" cmpd="sng" algn="ctr">
                      <a:solidFill>
                        <a:srgbClr val="1D2A25"/>
                      </a:solidFill>
                      <a:prstDash val="solid"/>
                      <a:round/>
                      <a:headEnd type="none" w="med" len="med"/>
                      <a:tailEnd type="none" w="med" len="med"/>
                    </a:lnR>
                    <a:lnT w="12700" cap="flat" cmpd="sng" algn="ctr">
                      <a:solidFill>
                        <a:srgbClr val="535D59"/>
                      </a:solidFill>
                      <a:prstDash val="solid"/>
                      <a:round/>
                      <a:headEnd type="none" w="med" len="med"/>
                      <a:tailEnd type="none" w="med" len="med"/>
                    </a:lnT>
                    <a:lnB w="12700" cap="flat" cmpd="sng" algn="ctr">
                      <a:solidFill>
                        <a:srgbClr val="535D59"/>
                      </a:solidFill>
                      <a:prstDash val="solid"/>
                      <a:round/>
                      <a:headEnd type="none" w="med" len="med"/>
                      <a:tailEnd type="none" w="med" len="med"/>
                    </a:lnB>
                  </a:tcPr>
                </a:tc>
              </a:tr>
              <a:tr h="853260">
                <a:tc>
                  <a:txBody>
                    <a:bodyPr/>
                    <a:lstStyle/>
                    <a:p>
                      <a:pPr algn="l" indent="0" marL="0">
                        <a:buNone/>
                      </a:pPr>
                      <a:r>
                        <a:rPr lang="en-US" sz="2000" b="1" dirty="0">
                          <a:solidFill>
                            <a:srgbClr val="E6EBE2"/>
                          </a:solidFill>
                          <a:latin typeface="IBM Plex Sans" pitchFamily="34" charset="0"/>
                          <a:ea typeface="IBM Plex Sans" pitchFamily="34" charset="-122"/>
                          <a:cs typeface="IBM Plex Sans" pitchFamily="34" charset="-120"/>
                        </a:rPr>
                        <a:t>Other stages</a:t>
                      </a:r>
                      <a:endParaRPr lang="en-US" sz="2000" dirty="0">
                        <a:latin typeface="IBM Plex Sans" charset="0"/>
                        <a:ea typeface="IBM Plex Sans" charset="0"/>
                        <a:cs typeface="IBM Plex Sans" charset="0"/>
                      </a:endParaRPr>
                    </a:p>
                  </a:txBody>
                  <a:tcPr marL="190495" marR="190495" marT="101598" marB="101598" anchor="ctr">
                    <a:lnL w="12700" cap="flat" cmpd="sng" algn="ctr">
                      <a:solidFill>
                        <a:srgbClr val="1D2A25"/>
                      </a:solidFill>
                      <a:prstDash val="solid"/>
                      <a:round/>
                      <a:headEnd type="none" w="med" len="med"/>
                      <a:tailEnd type="none" w="med" len="med"/>
                    </a:lnL>
                    <a:lnR w="12700" cap="flat" cmpd="sng" algn="ctr">
                      <a:solidFill>
                        <a:srgbClr val="1D2A25"/>
                      </a:solidFill>
                      <a:prstDash val="solid"/>
                      <a:round/>
                      <a:headEnd type="none" w="med" len="med"/>
                      <a:tailEnd type="none" w="med" len="med"/>
                    </a:lnR>
                    <a:lnT w="12700" cap="flat" cmpd="sng" algn="ctr">
                      <a:solidFill>
                        <a:srgbClr val="535D59"/>
                      </a:solidFill>
                      <a:prstDash val="solid"/>
                      <a:round/>
                      <a:headEnd type="none" w="med" len="med"/>
                      <a:tailEnd type="none" w="med" len="med"/>
                    </a:lnT>
                    <a:lnB w="12700" cap="flat" cmpd="sng" algn="ctr">
                      <a:solidFill>
                        <a:srgbClr val="1D2A25"/>
                      </a:solidFill>
                      <a:prstDash val="solid"/>
                      <a:round/>
                      <a:headEnd type="none" w="med" len="med"/>
                      <a:tailEnd type="none" w="med" len="med"/>
                    </a:lnB>
                  </a:tcPr>
                </a:tc>
                <a:tc>
                  <a:txBody>
                    <a:bodyPr/>
                    <a:lstStyle/>
                    <a:p>
                      <a:pPr algn="r" indent="0" marL="0">
                        <a:buNone/>
                      </a:pPr>
                      <a:r>
                        <a:rPr lang="en-US" sz="2000" dirty="0">
                          <a:solidFill>
                            <a:srgbClr val="E6EBE2"/>
                          </a:solidFill>
                          <a:latin typeface="IBM Plex Sans" pitchFamily="34" charset="0"/>
                          <a:ea typeface="IBM Plex Sans" pitchFamily="34" charset="-122"/>
                          <a:cs typeface="IBM Plex Sans" pitchFamily="34" charset="-120"/>
                        </a:rPr>
                        <a:t>Fill in order O(n·T); Welsh–Powell O(n log n + n·T); room assignment O(n·R) worst case; verification O(n).</a:t>
                      </a:r>
                      <a:endParaRPr lang="en-US" sz="2000" dirty="0">
                        <a:latin typeface="IBM Plex Sans" charset="0"/>
                        <a:ea typeface="IBM Plex Sans" charset="0"/>
                        <a:cs typeface="IBM Plex Sans" charset="0"/>
                      </a:endParaRPr>
                    </a:p>
                  </a:txBody>
                  <a:tcPr marL="190495" marR="190495" marT="101598" marB="101598" anchor="ctr">
                    <a:lnL w="12700" cap="flat" cmpd="sng" algn="ctr">
                      <a:solidFill>
                        <a:srgbClr val="1D2A25"/>
                      </a:solidFill>
                      <a:prstDash val="solid"/>
                      <a:round/>
                      <a:headEnd type="none" w="med" len="med"/>
                      <a:tailEnd type="none" w="med" len="med"/>
                    </a:lnL>
                    <a:lnR w="12700" cap="flat" cmpd="sng" algn="ctr">
                      <a:solidFill>
                        <a:srgbClr val="1D2A25"/>
                      </a:solidFill>
                      <a:prstDash val="solid"/>
                      <a:round/>
                      <a:headEnd type="none" w="med" len="med"/>
                      <a:tailEnd type="none" w="med" len="med"/>
                    </a:lnR>
                    <a:lnT w="12700" cap="flat" cmpd="sng" algn="ctr">
                      <a:solidFill>
                        <a:srgbClr val="535D59"/>
                      </a:solidFill>
                      <a:prstDash val="solid"/>
                      <a:round/>
                      <a:headEnd type="none" w="med" len="med"/>
                      <a:tailEnd type="none" w="med" len="med"/>
                    </a:lnT>
                    <a:lnB w="12700" cap="flat" cmpd="sng" algn="ctr">
                      <a:solidFill>
                        <a:srgbClr val="1D2A25"/>
                      </a:solidFill>
                      <a:prstDash val="solid"/>
                      <a:round/>
                      <a:headEnd type="none" w="med" len="med"/>
                      <a:tailEnd type="none" w="med" len="med"/>
                    </a:lnB>
                  </a:tcPr>
                </a:tc>
              </a:tr>
            </a:tbl>
          </a:graphicData>
        </a:graphic>
      </p:graphicFrame>
      <p:sp>
        <p:nvSpPr>
          <p:cNvPr id="4" name="Text 1"/>
          <p:cNvSpPr/>
          <p:nvPr/>
        </p:nvSpPr>
        <p:spPr>
          <a:xfrm>
            <a:off x="838179" y="4581128"/>
            <a:ext cx="5257668" cy="235645"/>
          </a:xfrm>
          <a:prstGeom prst="rect">
            <a:avLst/>
          </a:prstGeom>
          <a:noFill/>
          <a:ln/>
        </p:spPr>
        <p:txBody>
          <a:bodyPr wrap="none" lIns="0" tIns="0" rIns="0" bIns="0" rtlCol="0" anchor="t"/>
          <a:lstStyle/>
          <a:p>
            <a:pPr algn="l" indent="0" marL="0">
              <a:lnSpc>
                <a:spcPct val="107000"/>
              </a:lnSpc>
              <a:buNone/>
            </a:pPr>
            <a:r>
              <a:rPr lang="en-US" sz="1450" spc="116" kern="100" dirty="0">
                <a:solidFill>
                  <a:srgbClr val="F1CF55"/>
                </a:solidFill>
                <a:latin typeface="IBM Plex Sans" pitchFamily="34" charset="0"/>
                <a:ea typeface="IBM Plex Sans" pitchFamily="34" charset="-122"/>
                <a:cs typeface="IBM Plex Sans" pitchFamily="34" charset="-120"/>
              </a:rPr>
              <a:t>SPACE</a:t>
            </a:r>
            <a:endParaRPr lang="en-US" sz="1450" dirty="0"/>
          </a:p>
        </p:txBody>
      </p:sp>
      <p:sp>
        <p:nvSpPr>
          <p:cNvPr id="5" name="Text 2"/>
          <p:cNvSpPr/>
          <p:nvPr/>
        </p:nvSpPr>
        <p:spPr>
          <a:xfrm>
            <a:off x="838179" y="4908848"/>
            <a:ext cx="5257668" cy="348555"/>
          </a:xfrm>
          <a:prstGeom prst="rect">
            <a:avLst/>
          </a:prstGeom>
          <a:noFill/>
          <a:ln/>
        </p:spPr>
        <p:txBody>
          <a:bodyPr wrap="none" lIns="0" tIns="0" rIns="0" bIns="0" rtlCol="0" anchor="t"/>
          <a:lstStyle/>
          <a:p>
            <a:pPr algn="l" indent="0" marL="0">
              <a:lnSpc>
                <a:spcPct val="107000"/>
              </a:lnSpc>
              <a:buNone/>
            </a:pPr>
            <a:r>
              <a:rPr lang="en-US" sz="1900" i="1" dirty="0">
                <a:solidFill>
                  <a:srgbClr val="E6EBE2"/>
                </a:solidFill>
                <a:latin typeface="Consolas" pitchFamily="34" charset="0"/>
                <a:ea typeface="Consolas" pitchFamily="34" charset="-122"/>
                <a:cs typeface="Consolas" pitchFamily="34" charset="-120"/>
              </a:rPr>
              <a:t>             </a:t>
            </a:r>
            <a:endParaRPr lang="en-US" sz="2000" dirty="0"/>
          </a:p>
        </p:txBody>
      </p:sp>
      <p:pic>
        <p:nvPicPr>
          <p:cNvPr id="6" name="Image 0" descr="preencoded.png">    </p:cNvPr>
          <p:cNvPicPr>
            <a:picLocks noChangeAspect="1"/>
          </p:cNvPicPr>
          <p:nvPr/>
        </p:nvPicPr>
        <p:blipFill>
          <a:blip r:embed="rId1"/>
          <a:stretch>
            <a:fillRect/>
          </a:stretch>
        </p:blipFill>
        <p:spPr>
          <a:xfrm>
            <a:off x="838179" y="4940598"/>
            <a:ext cx="2946723" cy="316805"/>
          </a:xfrm>
          <a:prstGeom prst="rect">
            <a:avLst/>
          </a:prstGeom>
        </p:spPr>
      </p:pic>
      <p:sp>
        <p:nvSpPr>
          <p:cNvPr id="7" name="Text 3"/>
          <p:cNvSpPr/>
          <p:nvPr/>
        </p:nvSpPr>
        <p:spPr>
          <a:xfrm>
            <a:off x="6324442" y="4581128"/>
            <a:ext cx="5029074" cy="650081"/>
          </a:xfrm>
          <a:prstGeom prst="rect">
            <a:avLst/>
          </a:prstGeom>
          <a:noFill/>
          <a:ln/>
        </p:spPr>
        <p:txBody>
          <a:bodyPr wrap="square" lIns="0" tIns="0" rIns="0" bIns="0" rtlCol="0" anchor="t">
            <a:normAutofit/>
          </a:bodyPr>
          <a:lstStyle/>
          <a:p>
            <a:pPr algn="l" indent="0" marL="0">
              <a:lnSpc>
                <a:spcPct val="107000"/>
              </a:lnSpc>
              <a:buNone/>
            </a:pPr>
            <a:r>
              <a:rPr lang="en-US" sz="2000" b="1" dirty="0">
                <a:solidFill>
                  <a:srgbClr val="F1CF55"/>
                </a:solidFill>
                <a:latin typeface="IBM Plex Sans Bold" pitchFamily="34" charset="0"/>
                <a:ea typeface="IBM Plex Sans Bold" pitchFamily="34" charset="-122"/>
                <a:cs typeface="IBM Plex Sans Bold" pitchFamily="34" charset="-120"/>
              </a:rPr>
              <a:t>C = 162</a:t>
            </a:r>
            <a:pPr algn="l" indent="0" marL="0">
              <a:lnSpc>
                <a:spcPct val="107000"/>
              </a:lnSpc>
              <a:buNone/>
            </a:pPr>
            <a:r>
              <a:rPr lang="en-US" sz="2000" dirty="0">
                <a:solidFill>
                  <a:srgbClr val="E6EBE2"/>
                </a:solidFill>
                <a:latin typeface="IBM Plex Sans" pitchFamily="34" charset="0"/>
                <a:ea typeface="IBM Plex Sans" pitchFamily="34" charset="-122"/>
                <a:cs typeface="IBM Plex Sans" pitchFamily="34" charset="-120"/>
              </a:rPr>
              <a:t> section-subject rows · </a:t>
            </a:r>
            <a:pPr algn="l" indent="0" marL="0">
              <a:lnSpc>
                <a:spcPct val="107000"/>
              </a:lnSpc>
              <a:buNone/>
            </a:pPr>
            <a:r>
              <a:rPr lang="en-US" sz="2000" b="1" dirty="0">
                <a:solidFill>
                  <a:srgbClr val="F1CF55"/>
                </a:solidFill>
                <a:latin typeface="IBM Plex Sans Bold" pitchFamily="34" charset="0"/>
                <a:ea typeface="IBM Plex Sans Bold" pitchFamily="34" charset="-122"/>
                <a:cs typeface="IBM Plex Sans Bold" pitchFamily="34" charset="-120"/>
              </a:rPr>
              <a:t>D = 6</a:t>
            </a:r>
            <a:pPr algn="l" indent="0" marL="0">
              <a:lnSpc>
                <a:spcPct val="107000"/>
              </a:lnSpc>
              <a:buNone/>
            </a:pPr>
            <a:r>
              <a:rPr lang="en-US" sz="2000" dirty="0">
                <a:solidFill>
                  <a:srgbClr val="E6EBE2"/>
                </a:solidFill>
                <a:latin typeface="IBM Plex Sans" pitchFamily="34" charset="0"/>
                <a:ea typeface="IBM Plex Sans" pitchFamily="34" charset="-122"/>
                <a:cs typeface="IBM Plex Sans" pitchFamily="34" charset="-120"/>
              </a:rPr>
              <a:t> days · the 12,345 edges are never stored.</a:t>
            </a:r>
            <a:endParaRPr lang="en-US" sz="2000" dirty="0"/>
          </a:p>
        </p:txBody>
      </p:sp>
      <p:sp>
        <p:nvSpPr>
          <p:cNvPr id="8" name="Shape 4"/>
          <p:cNvSpPr/>
          <p:nvPr/>
        </p:nvSpPr>
        <p:spPr>
          <a:xfrm>
            <a:off x="6089498" y="4428728"/>
            <a:ext cx="12700" cy="981075"/>
          </a:xfrm>
          <a:prstGeom prst="rect">
            <a:avLst/>
          </a:prstGeom>
          <a:solidFill>
            <a:srgbClr val="FFFFFF">
              <a:alpha val="24000"/>
            </a:srgbClr>
          </a:solidFill>
          <a:ln/>
        </p:spPr>
      </p:sp>
      <p:sp>
        <p:nvSpPr>
          <p:cNvPr id="9" name="Text 5"/>
          <p:cNvSpPr/>
          <p:nvPr/>
        </p:nvSpPr>
        <p:spPr>
          <a:xfrm>
            <a:off x="11475354" y="6528296"/>
            <a:ext cx="716341" cy="227509"/>
          </a:xfrm>
          <a:prstGeom prst="rect">
            <a:avLst/>
          </a:prstGeom>
          <a:noFill/>
          <a:ln/>
        </p:spPr>
        <p:txBody>
          <a:bodyPr wrap="none" lIns="0" tIns="0" rIns="0" bIns="0" rtlCol="0" anchor="ctr"/>
          <a:lstStyle/>
          <a:p>
            <a:pPr algn="l" indent="0" marL="0">
              <a:lnSpc>
                <a:spcPct val="107000"/>
              </a:lnSpc>
              <a:buNone/>
            </a:pPr>
            <a:r>
              <a:rPr lang="en-US" sz="1400" dirty="0">
                <a:solidFill>
                  <a:srgbClr val="E6EBE2"/>
                </a:solidFill>
                <a:latin typeface="IBM Plex Sans" pitchFamily="34" charset="0"/>
                <a:ea typeface="IBM Plex Sans" pitchFamily="34" charset="-122"/>
                <a:cs typeface="IBM Plex Sans" pitchFamily="34" charset="-120"/>
              </a:rPr>
              <a:t>6</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609585" y="609600"/>
            <a:ext cx="10972526" cy="397669"/>
          </a:xfrm>
          <a:prstGeom prst="rect">
            <a:avLst/>
          </a:prstGeom>
          <a:noFill/>
          <a:ln/>
        </p:spPr>
        <p:txBody>
          <a:bodyPr wrap="none" lIns="0" tIns="0" rIns="0" bIns="0" rtlCol="0" anchor="t"/>
          <a:lstStyle/>
          <a:p>
            <a:pPr algn="l" indent="0" marL="0">
              <a:lnSpc>
                <a:spcPct val="90000"/>
              </a:lnSpc>
              <a:buNone/>
            </a:pPr>
            <a:r>
              <a:rPr lang="en-US" sz="2900" spc="-29" kern="100" dirty="0">
                <a:solidFill>
                  <a:srgbClr val="E6EBE2"/>
                </a:solidFill>
                <a:latin typeface="Bebas Neue" pitchFamily="34" charset="0"/>
                <a:ea typeface="Bebas Neue" pitchFamily="34" charset="-122"/>
                <a:cs typeface="Bebas Neue" pitchFamily="34" charset="-120"/>
              </a:rPr>
              <a:t>Implementation and Test Cases</a:t>
            </a:r>
            <a:endParaRPr lang="en-US" sz="2900" dirty="0"/>
          </a:p>
        </p:txBody>
      </p:sp>
      <p:sp>
        <p:nvSpPr>
          <p:cNvPr id="3" name="Text 1"/>
          <p:cNvSpPr/>
          <p:nvPr/>
        </p:nvSpPr>
        <p:spPr>
          <a:xfrm>
            <a:off x="609585" y="1162844"/>
            <a:ext cx="5486263" cy="235645"/>
          </a:xfrm>
          <a:prstGeom prst="rect">
            <a:avLst/>
          </a:prstGeom>
          <a:noFill/>
          <a:ln/>
        </p:spPr>
        <p:txBody>
          <a:bodyPr wrap="none" lIns="0" tIns="0" rIns="0" bIns="0" rtlCol="0" anchor="t"/>
          <a:lstStyle/>
          <a:p>
            <a:pPr algn="l" indent="0" marL="0">
              <a:lnSpc>
                <a:spcPct val="107000"/>
              </a:lnSpc>
              <a:buNone/>
            </a:pPr>
            <a:r>
              <a:rPr lang="en-US" sz="1450" spc="116" kern="100" dirty="0">
                <a:solidFill>
                  <a:srgbClr val="F1CF55"/>
                </a:solidFill>
                <a:latin typeface="IBM Plex Sans" pitchFamily="34" charset="0"/>
                <a:ea typeface="IBM Plex Sans" pitchFamily="34" charset="-122"/>
                <a:cs typeface="IBM Plex Sans" pitchFamily="34" charset="-120"/>
              </a:rPr>
              <a:t>ENGINE</a:t>
            </a:r>
            <a:endParaRPr lang="en-US" sz="1450" dirty="0"/>
          </a:p>
        </p:txBody>
      </p:sp>
      <p:sp>
        <p:nvSpPr>
          <p:cNvPr id="4" name="Text 2"/>
          <p:cNvSpPr/>
          <p:nvPr/>
        </p:nvSpPr>
        <p:spPr>
          <a:xfrm>
            <a:off x="609585" y="1461988"/>
            <a:ext cx="5257668" cy="315416"/>
          </a:xfrm>
          <a:prstGeom prst="rect">
            <a:avLst/>
          </a:prstGeom>
          <a:noFill/>
          <a:ln/>
        </p:spPr>
        <p:txBody>
          <a:bodyPr wrap="none" lIns="0" tIns="0" rIns="0" bIns="0" rtlCol="0" anchor="t"/>
          <a:lstStyle/>
          <a:p>
            <a:pPr algn="l" indent="0" marL="0">
              <a:lnSpc>
                <a:spcPct val="90000"/>
              </a:lnSpc>
              <a:buNone/>
            </a:pPr>
            <a:r>
              <a:rPr lang="en-US" sz="2300" spc="-23" kern="100" dirty="0">
                <a:solidFill>
                  <a:srgbClr val="E6EBE2"/>
                </a:solidFill>
                <a:latin typeface="IBM Plex Sans SemiBold" pitchFamily="34" charset="0"/>
                <a:ea typeface="IBM Plex Sans SemiBold" pitchFamily="34" charset="-122"/>
                <a:cs typeface="IBM Plex Sans SemiBold" pitchFamily="34" charset="-120"/>
              </a:rPr>
              <a:t>TypeScript engine</a:t>
            </a:r>
            <a:endParaRPr lang="en-US" sz="2300" dirty="0"/>
          </a:p>
        </p:txBody>
      </p:sp>
      <p:sp>
        <p:nvSpPr>
          <p:cNvPr id="5" name="Text 3"/>
          <p:cNvSpPr/>
          <p:nvPr/>
        </p:nvSpPr>
        <p:spPr>
          <a:xfrm>
            <a:off x="609585" y="1888530"/>
            <a:ext cx="5257668" cy="975122"/>
          </a:xfrm>
          <a:prstGeom prst="rect">
            <a:avLst/>
          </a:prstGeom>
          <a:noFill/>
          <a:ln/>
        </p:spPr>
        <p:txBody>
          <a:bodyPr wrap="square" lIns="0" tIns="0" rIns="0" bIns="0" rtlCol="0" anchor="t">
            <a:normAutofit/>
          </a:bodyPr>
          <a:lstStyle/>
          <a:p>
            <a:pPr algn="l" indent="0" marL="0">
              <a:lnSpc>
                <a:spcPct val="107000"/>
              </a:lnSpc>
              <a:buNone/>
            </a:pPr>
            <a:r>
              <a:rPr lang="en-US" sz="2000" dirty="0">
                <a:solidFill>
                  <a:srgbClr val="E6EBE2"/>
                </a:solidFill>
                <a:latin typeface="IBM Plex Sans" pitchFamily="34" charset="0"/>
                <a:ea typeface="IBM Plex Sans" pitchFamily="34" charset="-122"/>
                <a:cs typeface="IBM Plex Sans" pitchFamily="34" charset="-120"/>
              </a:rPr>
              <a:t>Four coloring methods, repair, polish, room assignment, and verification; runs in the browser with fixed random seed 7.</a:t>
            </a:r>
            <a:endParaRPr lang="en-US" sz="2000" dirty="0"/>
          </a:p>
        </p:txBody>
      </p:sp>
      <p:sp>
        <p:nvSpPr>
          <p:cNvPr id="6" name="Text 4"/>
          <p:cNvSpPr/>
          <p:nvPr/>
        </p:nvSpPr>
        <p:spPr>
          <a:xfrm>
            <a:off x="6324442" y="1162844"/>
            <a:ext cx="5257668" cy="235645"/>
          </a:xfrm>
          <a:prstGeom prst="rect">
            <a:avLst/>
          </a:prstGeom>
          <a:noFill/>
          <a:ln/>
        </p:spPr>
        <p:txBody>
          <a:bodyPr wrap="none" lIns="0" tIns="0" rIns="0" bIns="0" rtlCol="0" anchor="t"/>
          <a:lstStyle/>
          <a:p>
            <a:pPr algn="l" indent="0" marL="0">
              <a:lnSpc>
                <a:spcPct val="107000"/>
              </a:lnSpc>
              <a:buNone/>
            </a:pPr>
            <a:r>
              <a:rPr lang="en-US" sz="1450" spc="116" kern="100" dirty="0">
                <a:solidFill>
                  <a:srgbClr val="F1CF55"/>
                </a:solidFill>
                <a:latin typeface="IBM Plex Sans" pitchFamily="34" charset="0"/>
                <a:ea typeface="IBM Plex Sans" pitchFamily="34" charset="-122"/>
                <a:cs typeface="IBM Plex Sans" pitchFamily="34" charset="-120"/>
              </a:rPr>
              <a:t>TRACE</a:t>
            </a:r>
            <a:endParaRPr lang="en-US" sz="1450" dirty="0"/>
          </a:p>
        </p:txBody>
      </p:sp>
      <p:sp>
        <p:nvSpPr>
          <p:cNvPr id="7" name="Text 5"/>
          <p:cNvSpPr/>
          <p:nvPr/>
        </p:nvSpPr>
        <p:spPr>
          <a:xfrm>
            <a:off x="6324442" y="1490563"/>
            <a:ext cx="5257668" cy="650081"/>
          </a:xfrm>
          <a:prstGeom prst="rect">
            <a:avLst/>
          </a:prstGeom>
          <a:noFill/>
          <a:ln/>
        </p:spPr>
        <p:txBody>
          <a:bodyPr wrap="square" lIns="0" tIns="0" rIns="0" bIns="0" rtlCol="0" anchor="t">
            <a:normAutofit/>
          </a:bodyPr>
          <a:lstStyle/>
          <a:p>
            <a:pPr algn="l" indent="0" marL="0">
              <a:lnSpc>
                <a:spcPct val="107000"/>
              </a:lnSpc>
              <a:buNone/>
            </a:pPr>
            <a:r>
              <a:rPr lang="en-US" sz="2000" dirty="0">
                <a:solidFill>
                  <a:srgbClr val="E6EBE2"/>
                </a:solidFill>
                <a:latin typeface="IBM Plex Sans" pitchFamily="34" charset="0"/>
                <a:ea typeface="IBM Plex Sans" pitchFamily="34" charset="-122"/>
                <a:cs typeface="IBM Plex Sans" pitchFamily="34" charset="-120"/>
              </a:rPr>
              <a:t>Conflict graph, DSatur step by step, ejection chains, and verification.</a:t>
            </a:r>
            <a:endParaRPr lang="en-US" sz="2000" dirty="0"/>
          </a:p>
        </p:txBody>
      </p:sp>
      <p:sp>
        <p:nvSpPr>
          <p:cNvPr id="8" name="Text 6"/>
          <p:cNvSpPr/>
          <p:nvPr/>
        </p:nvSpPr>
        <p:spPr>
          <a:xfrm>
            <a:off x="609585" y="3320852"/>
            <a:ext cx="5486263" cy="235645"/>
          </a:xfrm>
          <a:prstGeom prst="rect">
            <a:avLst/>
          </a:prstGeom>
          <a:noFill/>
          <a:ln/>
        </p:spPr>
        <p:txBody>
          <a:bodyPr wrap="none" lIns="0" tIns="0" rIns="0" bIns="0" rtlCol="0" anchor="t"/>
          <a:lstStyle/>
          <a:p>
            <a:pPr algn="l" indent="0" marL="0">
              <a:lnSpc>
                <a:spcPct val="107000"/>
              </a:lnSpc>
              <a:buNone/>
            </a:pPr>
            <a:r>
              <a:rPr lang="en-US" sz="1450" spc="116" kern="100" dirty="0">
                <a:solidFill>
                  <a:srgbClr val="F1CF55"/>
                </a:solidFill>
                <a:latin typeface="IBM Plex Sans" pitchFamily="34" charset="0"/>
                <a:ea typeface="IBM Plex Sans" pitchFamily="34" charset="-122"/>
                <a:cs typeface="IBM Plex Sans" pitchFamily="34" charset="-120"/>
              </a:rPr>
              <a:t>COVERAGE</a:t>
            </a:r>
            <a:endParaRPr lang="en-US" sz="1450" dirty="0"/>
          </a:p>
        </p:txBody>
      </p:sp>
      <p:sp>
        <p:nvSpPr>
          <p:cNvPr id="9" name="Text 7"/>
          <p:cNvSpPr/>
          <p:nvPr/>
        </p:nvSpPr>
        <p:spPr>
          <a:xfrm>
            <a:off x="609585" y="3648571"/>
            <a:ext cx="5257668" cy="2134394"/>
          </a:xfrm>
          <a:prstGeom prst="rect">
            <a:avLst/>
          </a:prstGeom>
          <a:noFill/>
          <a:ln/>
        </p:spPr>
        <p:txBody>
          <a:bodyPr wrap="square" lIns="0" tIns="0" rIns="0" bIns="0" rtlCol="0" anchor="t">
            <a:normAutofit/>
          </a:bodyPr>
          <a:lstStyle/>
          <a:p>
            <a:pPr algn="l" indent="0" marL="0">
              <a:lnSpc>
                <a:spcPct val="107000"/>
              </a:lnSpc>
              <a:spcAft>
                <a:spcPts val="700"/>
              </a:spcAft>
              <a:buNone/>
            </a:pPr>
            <a:r>
              <a:rPr lang="en-US" sz="2000" dirty="0">
                <a:solidFill>
                  <a:srgbClr val="E6EBE2"/>
                </a:solidFill>
                <a:latin typeface="IBM Plex Sans" pitchFamily="34" charset="0"/>
                <a:ea typeface="IBM Plex Sans" pitchFamily="34" charset="-122"/>
                <a:cs typeface="IBM Plex Sans" pitchFamily="34" charset="-120"/>
              </a:rPr>
              <a:t>Normal 702-class dataset; minimum random college.</a:t>
            </a:r>
            <a:endParaRPr lang="en-US" sz="2000" dirty="0"/>
          </a:p>
          <a:p>
            <a:pPr algn="l" indent="0" marL="0">
              <a:lnSpc>
                <a:spcPct val="107000"/>
              </a:lnSpc>
              <a:spcAft>
                <a:spcPts val="700"/>
              </a:spcAft>
              <a:buNone/>
            </a:pPr>
            <a:r>
              <a:rPr lang="en-US" sz="2000" dirty="0">
                <a:solidFill>
                  <a:srgbClr val="E6EBE2"/>
                </a:solidFill>
                <a:latin typeface="IBM Plex Sans" pitchFamily="34" charset="0"/>
                <a:ea typeface="IBM Plex Sans" pitchFamily="34" charset="-122"/>
                <a:cs typeface="IBM Plex Sans" pitchFamily="34" charset="-120"/>
              </a:rPr>
              <a:t>Maximum 24 sections × 36 classes over 6 days × 8 periods.</a:t>
            </a:r>
            <a:endParaRPr lang="en-US" sz="2000" dirty="0"/>
          </a:p>
          <a:p>
            <a:pPr algn="l" indent="0" marL="0">
              <a:lnSpc>
                <a:spcPct val="107000"/>
              </a:lnSpc>
              <a:buNone/>
            </a:pPr>
            <a:r>
              <a:rPr lang="en-US" sz="2000" dirty="0">
                <a:solidFill>
                  <a:srgbClr val="E6EBE2"/>
                </a:solidFill>
                <a:latin typeface="IBM Plex Sans" pitchFamily="34" charset="0"/>
                <a:ea typeface="IBM Plex Sans" pitchFamily="34" charset="-122"/>
                <a:cs typeface="IBM Plex Sans" pitchFamily="34" charset="-120"/>
              </a:rPr>
              <a:t>Malformed and overfull inputs; a stuck greedy solver; special unavailable-day cases.</a:t>
            </a:r>
            <a:endParaRPr lang="en-US" sz="2000" dirty="0"/>
          </a:p>
        </p:txBody>
      </p:sp>
      <p:sp>
        <p:nvSpPr>
          <p:cNvPr id="10" name="Text 8"/>
          <p:cNvSpPr/>
          <p:nvPr/>
        </p:nvSpPr>
        <p:spPr>
          <a:xfrm>
            <a:off x="8318292" y="3320852"/>
            <a:ext cx="1879454" cy="235645"/>
          </a:xfrm>
          <a:prstGeom prst="rect">
            <a:avLst/>
          </a:prstGeom>
          <a:noFill/>
          <a:ln/>
        </p:spPr>
        <p:txBody>
          <a:bodyPr wrap="none" lIns="0" tIns="0" rIns="0" bIns="0" rtlCol="0" anchor="t"/>
          <a:lstStyle/>
          <a:p>
            <a:pPr algn="l" indent="0" marL="0">
              <a:lnSpc>
                <a:spcPct val="107000"/>
              </a:lnSpc>
              <a:buNone/>
            </a:pPr>
            <a:r>
              <a:rPr lang="en-US" sz="1450" spc="116" kern="100" dirty="0">
                <a:solidFill>
                  <a:srgbClr val="F1CF55"/>
                </a:solidFill>
                <a:latin typeface="IBM Plex Sans" pitchFamily="34" charset="0"/>
                <a:ea typeface="IBM Plex Sans" pitchFamily="34" charset="-122"/>
                <a:cs typeface="IBM Plex Sans" pitchFamily="34" charset="-120"/>
              </a:rPr>
              <a:t>TEST RESULT</a:t>
            </a:r>
            <a:endParaRPr lang="en-US" sz="1450" dirty="0"/>
          </a:p>
        </p:txBody>
      </p:sp>
      <p:sp>
        <p:nvSpPr>
          <p:cNvPr id="11" name="Text 9"/>
          <p:cNvSpPr/>
          <p:nvPr/>
        </p:nvSpPr>
        <p:spPr>
          <a:xfrm>
            <a:off x="8537163" y="3619996"/>
            <a:ext cx="5257668" cy="1066800"/>
          </a:xfrm>
          <a:prstGeom prst="rect">
            <a:avLst/>
          </a:prstGeom>
          <a:noFill/>
          <a:ln/>
        </p:spPr>
        <p:txBody>
          <a:bodyPr wrap="none" lIns="0" tIns="0" rIns="0" bIns="0" rtlCol="0" anchor="t"/>
          <a:lstStyle/>
          <a:p>
            <a:pPr algn="l" indent="0" marL="0">
              <a:lnSpc>
                <a:spcPct val="83000"/>
              </a:lnSpc>
              <a:buNone/>
            </a:pPr>
            <a:r>
              <a:rPr lang="en-US" sz="8400" spc="-84" kern="100" dirty="0">
                <a:solidFill>
                  <a:srgbClr val="F1CF55"/>
                </a:solidFill>
                <a:latin typeface="Bebas Neue" pitchFamily="34" charset="0"/>
                <a:ea typeface="Bebas Neue" pitchFamily="34" charset="-122"/>
                <a:cs typeface="Bebas Neue" pitchFamily="34" charset="-120"/>
              </a:rPr>
              <a:t>39</a:t>
            </a:r>
            <a:endParaRPr lang="en-US" sz="8400" dirty="0"/>
          </a:p>
        </p:txBody>
      </p:sp>
      <p:sp>
        <p:nvSpPr>
          <p:cNvPr id="12" name="Text 10"/>
          <p:cNvSpPr/>
          <p:nvPr/>
        </p:nvSpPr>
        <p:spPr>
          <a:xfrm>
            <a:off x="6324392" y="4778871"/>
            <a:ext cx="5257668" cy="315416"/>
          </a:xfrm>
          <a:prstGeom prst="rect">
            <a:avLst/>
          </a:prstGeom>
          <a:noFill/>
          <a:ln/>
        </p:spPr>
        <p:txBody>
          <a:bodyPr wrap="none" lIns="0" tIns="0" rIns="0" bIns="0" rtlCol="0" anchor="t"/>
          <a:lstStyle/>
          <a:p>
            <a:pPr algn="ctr" indent="0" marL="0">
              <a:lnSpc>
                <a:spcPct val="90000"/>
              </a:lnSpc>
              <a:buNone/>
            </a:pPr>
            <a:r>
              <a:rPr lang="en-US" sz="2300" spc="-23" kern="100" dirty="0">
                <a:solidFill>
                  <a:srgbClr val="E6EBE2"/>
                </a:solidFill>
                <a:latin typeface="IBM Plex Sans SemiBold" pitchFamily="34" charset="0"/>
                <a:ea typeface="IBM Plex Sans SemiBold" pitchFamily="34" charset="-122"/>
                <a:cs typeface="IBM Plex Sans SemiBold" pitchFamily="34" charset="-120"/>
              </a:rPr>
              <a:t>automated tests</a:t>
            </a:r>
            <a:endParaRPr lang="en-US" sz="2300" dirty="0"/>
          </a:p>
        </p:txBody>
      </p:sp>
      <p:sp>
        <p:nvSpPr>
          <p:cNvPr id="13" name="Text 11"/>
          <p:cNvSpPr/>
          <p:nvPr/>
        </p:nvSpPr>
        <p:spPr>
          <a:xfrm>
            <a:off x="6324442" y="5205413"/>
            <a:ext cx="5257668" cy="650081"/>
          </a:xfrm>
          <a:prstGeom prst="rect">
            <a:avLst/>
          </a:prstGeom>
          <a:noFill/>
          <a:ln/>
        </p:spPr>
        <p:txBody>
          <a:bodyPr wrap="square" lIns="0" tIns="0" rIns="0" bIns="0" rtlCol="0" anchor="t">
            <a:normAutofit/>
          </a:bodyPr>
          <a:lstStyle/>
          <a:p>
            <a:pPr algn="ctr" indent="0" marL="0">
              <a:lnSpc>
                <a:spcPct val="107000"/>
              </a:lnSpc>
              <a:buNone/>
            </a:pPr>
            <a:r>
              <a:rPr lang="en-US" sz="2000" dirty="0">
                <a:solidFill>
                  <a:srgbClr val="E6EBE2"/>
                </a:solidFill>
                <a:latin typeface="IBM Plex Sans" pitchFamily="34" charset="0"/>
                <a:ea typeface="IBM Plex Sans" pitchFamily="34" charset="-122"/>
                <a:cs typeface="IBM Plex Sans" pitchFamily="34" charset="-120"/>
              </a:rPr>
              <a:t>Including an exact-match check between the TypeScript engine and the original engine.</a:t>
            </a:r>
            <a:endParaRPr lang="en-US" sz="2000" dirty="0"/>
          </a:p>
        </p:txBody>
      </p:sp>
      <p:sp>
        <p:nvSpPr>
          <p:cNvPr id="14" name="Shape 12"/>
          <p:cNvSpPr/>
          <p:nvPr/>
        </p:nvSpPr>
        <p:spPr>
          <a:xfrm>
            <a:off x="6089498" y="1162844"/>
            <a:ext cx="12700" cy="1929408"/>
          </a:xfrm>
          <a:prstGeom prst="rect">
            <a:avLst/>
          </a:prstGeom>
          <a:solidFill>
            <a:srgbClr val="FFFFFF">
              <a:alpha val="24000"/>
            </a:srgbClr>
          </a:solidFill>
          <a:ln/>
        </p:spPr>
      </p:sp>
      <p:sp>
        <p:nvSpPr>
          <p:cNvPr id="15" name="Shape 13"/>
          <p:cNvSpPr/>
          <p:nvPr/>
        </p:nvSpPr>
        <p:spPr>
          <a:xfrm>
            <a:off x="609585" y="3085902"/>
            <a:ext cx="5486263" cy="12700"/>
          </a:xfrm>
          <a:prstGeom prst="rect">
            <a:avLst/>
          </a:prstGeom>
          <a:solidFill>
            <a:srgbClr val="FFFFFF">
              <a:alpha val="24000"/>
            </a:srgbClr>
          </a:solidFill>
          <a:ln/>
        </p:spPr>
      </p:sp>
      <p:sp>
        <p:nvSpPr>
          <p:cNvPr id="16" name="Shape 14"/>
          <p:cNvSpPr/>
          <p:nvPr/>
        </p:nvSpPr>
        <p:spPr>
          <a:xfrm>
            <a:off x="6089498" y="3092252"/>
            <a:ext cx="12700" cy="2763242"/>
          </a:xfrm>
          <a:prstGeom prst="rect">
            <a:avLst/>
          </a:prstGeom>
          <a:solidFill>
            <a:srgbClr val="FFFFFF">
              <a:alpha val="24000"/>
            </a:srgbClr>
          </a:solidFill>
          <a:ln/>
        </p:spPr>
      </p:sp>
      <p:sp>
        <p:nvSpPr>
          <p:cNvPr id="17" name="Shape 15"/>
          <p:cNvSpPr/>
          <p:nvPr/>
        </p:nvSpPr>
        <p:spPr>
          <a:xfrm>
            <a:off x="6095848" y="3085902"/>
            <a:ext cx="5486263" cy="12700"/>
          </a:xfrm>
          <a:prstGeom prst="rect">
            <a:avLst/>
          </a:prstGeom>
          <a:solidFill>
            <a:srgbClr val="FFFFFF">
              <a:alpha val="24000"/>
            </a:srgbClr>
          </a:solidFill>
          <a:ln/>
        </p:spPr>
      </p:sp>
      <p:sp>
        <p:nvSpPr>
          <p:cNvPr id="18" name="Text 16"/>
          <p:cNvSpPr/>
          <p:nvPr/>
        </p:nvSpPr>
        <p:spPr>
          <a:xfrm>
            <a:off x="11475354" y="6528296"/>
            <a:ext cx="716341" cy="227509"/>
          </a:xfrm>
          <a:prstGeom prst="rect">
            <a:avLst/>
          </a:prstGeom>
          <a:noFill/>
          <a:ln/>
        </p:spPr>
        <p:txBody>
          <a:bodyPr wrap="none" lIns="0" tIns="0" rIns="0" bIns="0" rtlCol="0" anchor="ctr"/>
          <a:lstStyle/>
          <a:p>
            <a:pPr algn="l" indent="0" marL="0">
              <a:lnSpc>
                <a:spcPct val="107000"/>
              </a:lnSpc>
              <a:buNone/>
            </a:pPr>
            <a:r>
              <a:rPr lang="en-US" sz="1400" dirty="0">
                <a:solidFill>
                  <a:srgbClr val="E6EBE2"/>
                </a:solidFill>
                <a:latin typeface="IBM Plex Sans" pitchFamily="34" charset="0"/>
                <a:ea typeface="IBM Plex Sans" pitchFamily="34" charset="-122"/>
                <a:cs typeface="IBM Plex Sans" pitchFamily="34" charset="-120"/>
              </a:rPr>
              <a:t>7</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609585" y="609600"/>
            <a:ext cx="10972526" cy="397669"/>
          </a:xfrm>
          <a:prstGeom prst="rect">
            <a:avLst/>
          </a:prstGeom>
          <a:noFill/>
          <a:ln/>
        </p:spPr>
        <p:txBody>
          <a:bodyPr wrap="none" lIns="0" tIns="0" rIns="0" bIns="0" rtlCol="0" anchor="t"/>
          <a:lstStyle/>
          <a:p>
            <a:pPr algn="l" indent="0" marL="0">
              <a:lnSpc>
                <a:spcPct val="90000"/>
              </a:lnSpc>
              <a:buNone/>
            </a:pPr>
            <a:r>
              <a:rPr lang="en-US" sz="2900" spc="-29" kern="100" dirty="0">
                <a:solidFill>
                  <a:srgbClr val="E6EBE2"/>
                </a:solidFill>
                <a:latin typeface="Bebas Neue" pitchFamily="34" charset="0"/>
                <a:ea typeface="Bebas Neue" pitchFamily="34" charset="-122"/>
                <a:cs typeface="Bebas Neue" pitchFamily="34" charset="-120"/>
              </a:rPr>
              <a:t>Results and Conclusion</a:t>
            </a:r>
            <a:endParaRPr lang="en-US" sz="2900" dirty="0"/>
          </a:p>
        </p:txBody>
      </p:sp>
      <p:sp>
        <p:nvSpPr>
          <p:cNvPr id="3" name="Text 1"/>
          <p:cNvSpPr/>
          <p:nvPr/>
        </p:nvSpPr>
        <p:spPr>
          <a:xfrm>
            <a:off x="609585" y="1162844"/>
            <a:ext cx="5257668" cy="235645"/>
          </a:xfrm>
          <a:prstGeom prst="rect">
            <a:avLst/>
          </a:prstGeom>
          <a:noFill/>
          <a:ln/>
        </p:spPr>
        <p:txBody>
          <a:bodyPr wrap="none" lIns="0" tIns="0" rIns="0" bIns="0" rtlCol="0" anchor="t"/>
          <a:lstStyle/>
          <a:p>
            <a:pPr algn="l" indent="0" marL="0">
              <a:lnSpc>
                <a:spcPct val="107000"/>
              </a:lnSpc>
              <a:buNone/>
            </a:pPr>
            <a:r>
              <a:rPr lang="en-US" sz="1450" spc="116" kern="100" dirty="0">
                <a:solidFill>
                  <a:srgbClr val="F1CF55"/>
                </a:solidFill>
                <a:latin typeface="IBM Plex Sans" pitchFamily="34" charset="0"/>
                <a:ea typeface="IBM Plex Sans" pitchFamily="34" charset="-122"/>
                <a:cs typeface="IBM Plex Sans" pitchFamily="34" charset="-120"/>
              </a:rPr>
              <a:t>ROOM COMPARISON</a:t>
            </a:r>
            <a:endParaRPr lang="en-US" sz="145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609585" y="1490563"/>
          <a:ext cx="5257669" cy="914400"/>
        </p:xfrm>
        <a:graphic>
          <a:graphicData uri="http://schemas.openxmlformats.org/drawingml/2006/table">
            <a:tbl>
              <a:tblPr/>
              <a:tblGrid>
                <a:gridCol w="2733904"/>
                <a:gridCol w="1261833"/>
                <a:gridCol w="1261932"/>
              </a:tblGrid>
              <a:tr h="540927">
                <a:tc>
                  <a:txBody>
                    <a:bodyPr/>
                    <a:lstStyle/>
                    <a:p>
                      <a:pPr algn="l" indent="0" marL="0">
                        <a:buNone/>
                      </a:pPr>
                      <a:r>
                        <a:rPr lang="en-US" sz="2000" dirty="0">
                          <a:solidFill>
                            <a:srgbClr val="E6EBE2"/>
                          </a:solidFill>
                          <a:latin typeface="IBM Plex Sans" pitchFamily="34" charset="0"/>
                          <a:ea typeface="IBM Plex Sans" pitchFamily="34" charset="-122"/>
                          <a:cs typeface="IBM Plex Sans" pitchFamily="34" charset="-120"/>
                        </a:rPr>
                        <a:t>Method</a:t>
                      </a:r>
                      <a:endParaRPr lang="en-US" sz="2000" dirty="0">
                        <a:latin typeface="IBM Plex Sans" charset="0"/>
                        <a:ea typeface="IBM Plex Sans" charset="0"/>
                        <a:cs typeface="IBM Plex Sans" charset="0"/>
                      </a:endParaRPr>
                    </a:p>
                  </a:txBody>
                  <a:tcPr marL="190495" marR="190495" marT="101598" marB="101598" anchor="ctr">
                    <a:lnL w="12700" cap="flat" cmpd="sng" algn="ctr">
                      <a:solidFill>
                        <a:srgbClr val="1D2A25"/>
                      </a:solidFill>
                      <a:prstDash val="solid"/>
                      <a:round/>
                      <a:headEnd type="none" w="med" len="med"/>
                      <a:tailEnd type="none" w="med" len="med"/>
                    </a:lnL>
                    <a:lnR w="12700" cap="flat" cmpd="sng" algn="ctr">
                      <a:solidFill>
                        <a:srgbClr val="1D2A25"/>
                      </a:solidFill>
                      <a:prstDash val="solid"/>
                      <a:round/>
                      <a:headEnd type="none" w="med" len="med"/>
                      <a:tailEnd type="none" w="med" len="med"/>
                    </a:lnR>
                    <a:lnT w="12700" cap="flat" cmpd="sng" algn="ctr">
                      <a:solidFill>
                        <a:srgbClr val="1D2A25"/>
                      </a:solidFill>
                      <a:prstDash val="solid"/>
                      <a:round/>
                      <a:headEnd type="none" w="med" len="med"/>
                      <a:tailEnd type="none" w="med" len="med"/>
                    </a:lnT>
                    <a:lnB w="12700" cap="flat" cmpd="sng" algn="ctr">
                      <a:solidFill>
                        <a:srgbClr val="535D59"/>
                      </a:solidFill>
                      <a:prstDash val="solid"/>
                      <a:round/>
                      <a:headEnd type="none" w="med" len="med"/>
                      <a:tailEnd type="none" w="med" len="med"/>
                    </a:lnB>
                  </a:tcPr>
                </a:tc>
                <a:tc>
                  <a:txBody>
                    <a:bodyPr/>
                    <a:lstStyle/>
                    <a:p>
                      <a:pPr algn="l" indent="0" marL="0">
                        <a:buNone/>
                      </a:pPr>
                      <a:r>
                        <a:rPr lang="en-US" sz="2000" dirty="0">
                          <a:solidFill>
                            <a:srgbClr val="E6EBE2"/>
                          </a:solidFill>
                          <a:latin typeface="IBM Plex Sans" pitchFamily="34" charset="0"/>
                          <a:ea typeface="IBM Plex Sans" pitchFamily="34" charset="-122"/>
                          <a:cs typeface="IBM Plex Sans" pitchFamily="34" charset="-120"/>
                        </a:rPr>
                        <a:t>Rooms</a:t>
                      </a:r>
                      <a:endParaRPr lang="en-US" sz="2000" dirty="0">
                        <a:latin typeface="IBM Plex Sans" charset="0"/>
                        <a:ea typeface="IBM Plex Sans" charset="0"/>
                        <a:cs typeface="IBM Plex Sans" charset="0"/>
                      </a:endParaRPr>
                    </a:p>
                  </a:txBody>
                  <a:tcPr marL="190495" marR="190495" marT="101598" marB="101598" anchor="ctr">
                    <a:lnL w="12700" cap="flat" cmpd="sng" algn="ctr">
                      <a:solidFill>
                        <a:srgbClr val="1D2A25"/>
                      </a:solidFill>
                      <a:prstDash val="solid"/>
                      <a:round/>
                      <a:headEnd type="none" w="med" len="med"/>
                      <a:tailEnd type="none" w="med" len="med"/>
                    </a:lnL>
                    <a:lnR w="12700" cap="flat" cmpd="sng" algn="ctr">
                      <a:solidFill>
                        <a:srgbClr val="1D2A25"/>
                      </a:solidFill>
                      <a:prstDash val="solid"/>
                      <a:round/>
                      <a:headEnd type="none" w="med" len="med"/>
                      <a:tailEnd type="none" w="med" len="med"/>
                    </a:lnR>
                    <a:lnT w="12700" cap="flat" cmpd="sng" algn="ctr">
                      <a:solidFill>
                        <a:srgbClr val="1D2A25"/>
                      </a:solidFill>
                      <a:prstDash val="solid"/>
                      <a:round/>
                      <a:headEnd type="none" w="med" len="med"/>
                      <a:tailEnd type="none" w="med" len="med"/>
                    </a:lnT>
                    <a:lnB w="12700" cap="flat" cmpd="sng" algn="ctr">
                      <a:solidFill>
                        <a:srgbClr val="535D59"/>
                      </a:solidFill>
                      <a:prstDash val="solid"/>
                      <a:round/>
                      <a:headEnd type="none" w="med" len="med"/>
                      <a:tailEnd type="none" w="med" len="med"/>
                    </a:lnB>
                  </a:tcPr>
                </a:tc>
                <a:tc>
                  <a:txBody>
                    <a:bodyPr/>
                    <a:lstStyle/>
                    <a:p>
                      <a:pPr algn="l" indent="0" marL="0">
                        <a:buNone/>
                      </a:pPr>
                      <a:r>
                        <a:rPr lang="en-US" sz="2000" dirty="0">
                          <a:solidFill>
                            <a:srgbClr val="E6EBE2"/>
                          </a:solidFill>
                          <a:latin typeface="IBM Plex Sans" pitchFamily="34" charset="0"/>
                          <a:ea typeface="IBM Plex Sans" pitchFamily="34" charset="-122"/>
                          <a:cs typeface="IBM Plex Sans" pitchFamily="34" charset="-120"/>
                        </a:rPr>
                        <a:t>Gap</a:t>
                      </a:r>
                      <a:endParaRPr lang="en-US" sz="2000" dirty="0">
                        <a:latin typeface="IBM Plex Sans" charset="0"/>
                        <a:ea typeface="IBM Plex Sans" charset="0"/>
                        <a:cs typeface="IBM Plex Sans" charset="0"/>
                      </a:endParaRPr>
                    </a:p>
                  </a:txBody>
                  <a:tcPr marL="190495" marR="190495" marT="101598" marB="101598" anchor="ctr">
                    <a:lnL w="12700" cap="flat" cmpd="sng" algn="ctr">
                      <a:solidFill>
                        <a:srgbClr val="1D2A25"/>
                      </a:solidFill>
                      <a:prstDash val="solid"/>
                      <a:round/>
                      <a:headEnd type="none" w="med" len="med"/>
                      <a:tailEnd type="none" w="med" len="med"/>
                    </a:lnL>
                    <a:lnR w="12700" cap="flat" cmpd="sng" algn="ctr">
                      <a:solidFill>
                        <a:srgbClr val="1D2A25"/>
                      </a:solidFill>
                      <a:prstDash val="solid"/>
                      <a:round/>
                      <a:headEnd type="none" w="med" len="med"/>
                      <a:tailEnd type="none" w="med" len="med"/>
                    </a:lnR>
                    <a:lnT w="12700" cap="flat" cmpd="sng" algn="ctr">
                      <a:solidFill>
                        <a:srgbClr val="1D2A25"/>
                      </a:solidFill>
                      <a:prstDash val="solid"/>
                      <a:round/>
                      <a:headEnd type="none" w="med" len="med"/>
                      <a:tailEnd type="none" w="med" len="med"/>
                    </a:lnT>
                    <a:lnB w="12700" cap="flat" cmpd="sng" algn="ctr">
                      <a:solidFill>
                        <a:srgbClr val="535D59"/>
                      </a:solidFill>
                      <a:prstDash val="solid"/>
                      <a:round/>
                      <a:headEnd type="none" w="med" len="med"/>
                      <a:tailEnd type="none" w="med" len="med"/>
                    </a:lnB>
                  </a:tcPr>
                </a:tc>
              </a:tr>
              <a:tr h="540927">
                <a:tc>
                  <a:txBody>
                    <a:bodyPr/>
                    <a:lstStyle/>
                    <a:p>
                      <a:pPr algn="l" indent="0" marL="0">
                        <a:buNone/>
                      </a:pPr>
                      <a:r>
                        <a:rPr lang="en-US" sz="2000" dirty="0">
                          <a:solidFill>
                            <a:srgbClr val="E6EBE2"/>
                          </a:solidFill>
                          <a:latin typeface="IBM Plex Sans" pitchFamily="34" charset="0"/>
                          <a:ea typeface="IBM Plex Sans" pitchFamily="34" charset="-122"/>
                          <a:cs typeface="IBM Plex Sans" pitchFamily="34" charset="-120"/>
                        </a:rPr>
                        <a:t>Fill in order</a:t>
                      </a:r>
                      <a:endParaRPr lang="en-US" sz="2000" dirty="0">
                        <a:latin typeface="IBM Plex Sans" charset="0"/>
                        <a:ea typeface="IBM Plex Sans" charset="0"/>
                        <a:cs typeface="IBM Plex Sans" charset="0"/>
                      </a:endParaRPr>
                    </a:p>
                  </a:txBody>
                  <a:tcPr marL="190495" marR="190495" marT="101598" marB="101598" anchor="ctr">
                    <a:lnL w="12700" cap="flat" cmpd="sng" algn="ctr">
                      <a:solidFill>
                        <a:srgbClr val="1D2A25"/>
                      </a:solidFill>
                      <a:prstDash val="solid"/>
                      <a:round/>
                      <a:headEnd type="none" w="med" len="med"/>
                      <a:tailEnd type="none" w="med" len="med"/>
                    </a:lnL>
                    <a:lnR w="12700" cap="flat" cmpd="sng" algn="ctr">
                      <a:solidFill>
                        <a:srgbClr val="1D2A25"/>
                      </a:solidFill>
                      <a:prstDash val="solid"/>
                      <a:round/>
                      <a:headEnd type="none" w="med" len="med"/>
                      <a:tailEnd type="none" w="med" len="med"/>
                    </a:lnR>
                    <a:lnT w="12700" cap="flat" cmpd="sng" algn="ctr">
                      <a:solidFill>
                        <a:srgbClr val="535D59"/>
                      </a:solidFill>
                      <a:prstDash val="solid"/>
                      <a:round/>
                      <a:headEnd type="none" w="med" len="med"/>
                      <a:tailEnd type="none" w="med" len="med"/>
                    </a:lnT>
                    <a:lnB w="12700" cap="flat" cmpd="sng" algn="ctr">
                      <a:solidFill>
                        <a:srgbClr val="535D59"/>
                      </a:solidFill>
                      <a:prstDash val="solid"/>
                      <a:round/>
                      <a:headEnd type="none" w="med" len="med"/>
                      <a:tailEnd type="none" w="med" len="med"/>
                    </a:lnB>
                  </a:tcPr>
                </a:tc>
                <a:tc>
                  <a:txBody>
                    <a:bodyPr/>
                    <a:lstStyle/>
                    <a:p>
                      <a:pPr algn="l" indent="0" marL="0">
                        <a:buNone/>
                      </a:pPr>
                      <a:r>
                        <a:rPr lang="en-US" sz="2000" dirty="0">
                          <a:solidFill>
                            <a:srgbClr val="E6EBE2"/>
                          </a:solidFill>
                          <a:latin typeface="IBM Plex Sans" pitchFamily="34" charset="0"/>
                          <a:ea typeface="IBM Plex Sans" pitchFamily="34" charset="-122"/>
                          <a:cs typeface="IBM Plex Sans" pitchFamily="34" charset="-120"/>
                        </a:rPr>
                        <a:t>27</a:t>
                      </a:r>
                      <a:endParaRPr lang="en-US" sz="2000" dirty="0">
                        <a:latin typeface="IBM Plex Sans" charset="0"/>
                        <a:ea typeface="IBM Plex Sans" charset="0"/>
                        <a:cs typeface="IBM Plex Sans" charset="0"/>
                      </a:endParaRPr>
                    </a:p>
                  </a:txBody>
                  <a:tcPr marL="190495" marR="190495" marT="101598" marB="101598" anchor="ctr">
                    <a:lnL w="12700" cap="flat" cmpd="sng" algn="ctr">
                      <a:solidFill>
                        <a:srgbClr val="1D2A25"/>
                      </a:solidFill>
                      <a:prstDash val="solid"/>
                      <a:round/>
                      <a:headEnd type="none" w="med" len="med"/>
                      <a:tailEnd type="none" w="med" len="med"/>
                    </a:lnL>
                    <a:lnR w="12700" cap="flat" cmpd="sng" algn="ctr">
                      <a:solidFill>
                        <a:srgbClr val="1D2A25"/>
                      </a:solidFill>
                      <a:prstDash val="solid"/>
                      <a:round/>
                      <a:headEnd type="none" w="med" len="med"/>
                      <a:tailEnd type="none" w="med" len="med"/>
                    </a:lnR>
                    <a:lnT w="12700" cap="flat" cmpd="sng" algn="ctr">
                      <a:solidFill>
                        <a:srgbClr val="535D59"/>
                      </a:solidFill>
                      <a:prstDash val="solid"/>
                      <a:round/>
                      <a:headEnd type="none" w="med" len="med"/>
                      <a:tailEnd type="none" w="med" len="med"/>
                    </a:lnT>
                    <a:lnB w="12700" cap="flat" cmpd="sng" algn="ctr">
                      <a:solidFill>
                        <a:srgbClr val="535D59"/>
                      </a:solidFill>
                      <a:prstDash val="solid"/>
                      <a:round/>
                      <a:headEnd type="none" w="med" len="med"/>
                      <a:tailEnd type="none" w="med" len="med"/>
                    </a:lnB>
                  </a:tcPr>
                </a:tc>
                <a:tc>
                  <a:txBody>
                    <a:bodyPr/>
                    <a:lstStyle/>
                    <a:p>
                      <a:pPr algn="l" indent="0" marL="0">
                        <a:buNone/>
                      </a:pPr>
                      <a:r>
                        <a:rPr lang="en-US" sz="2000" dirty="0">
                          <a:solidFill>
                            <a:srgbClr val="E6EBE2"/>
                          </a:solidFill>
                          <a:latin typeface="IBM Plex Sans" pitchFamily="34" charset="0"/>
                          <a:ea typeface="IBM Plex Sans" pitchFamily="34" charset="-122"/>
                          <a:cs typeface="IBM Plex Sans" pitchFamily="34" charset="-120"/>
                        </a:rPr>
                        <a:t>+7</a:t>
                      </a:r>
                      <a:endParaRPr lang="en-US" sz="2000" dirty="0">
                        <a:latin typeface="IBM Plex Sans" charset="0"/>
                        <a:ea typeface="IBM Plex Sans" charset="0"/>
                        <a:cs typeface="IBM Plex Sans" charset="0"/>
                      </a:endParaRPr>
                    </a:p>
                  </a:txBody>
                  <a:tcPr marL="190495" marR="190495" marT="101598" marB="101598" anchor="ctr">
                    <a:lnL w="12700" cap="flat" cmpd="sng" algn="ctr">
                      <a:solidFill>
                        <a:srgbClr val="1D2A25"/>
                      </a:solidFill>
                      <a:prstDash val="solid"/>
                      <a:round/>
                      <a:headEnd type="none" w="med" len="med"/>
                      <a:tailEnd type="none" w="med" len="med"/>
                    </a:lnL>
                    <a:lnR w="12700" cap="flat" cmpd="sng" algn="ctr">
                      <a:solidFill>
                        <a:srgbClr val="1D2A25"/>
                      </a:solidFill>
                      <a:prstDash val="solid"/>
                      <a:round/>
                      <a:headEnd type="none" w="med" len="med"/>
                      <a:tailEnd type="none" w="med" len="med"/>
                    </a:lnR>
                    <a:lnT w="12700" cap="flat" cmpd="sng" algn="ctr">
                      <a:solidFill>
                        <a:srgbClr val="535D59"/>
                      </a:solidFill>
                      <a:prstDash val="solid"/>
                      <a:round/>
                      <a:headEnd type="none" w="med" len="med"/>
                      <a:tailEnd type="none" w="med" len="med"/>
                    </a:lnT>
                    <a:lnB w="12700" cap="flat" cmpd="sng" algn="ctr">
                      <a:solidFill>
                        <a:srgbClr val="535D59"/>
                      </a:solidFill>
                      <a:prstDash val="solid"/>
                      <a:round/>
                      <a:headEnd type="none" w="med" len="med"/>
                      <a:tailEnd type="none" w="med" len="med"/>
                    </a:lnB>
                  </a:tcPr>
                </a:tc>
              </a:tr>
              <a:tr h="540927">
                <a:tc>
                  <a:txBody>
                    <a:bodyPr/>
                    <a:lstStyle/>
                    <a:p>
                      <a:pPr algn="l" indent="0" marL="0">
                        <a:buNone/>
                      </a:pPr>
                      <a:r>
                        <a:rPr lang="en-US" sz="2000" dirty="0">
                          <a:solidFill>
                            <a:srgbClr val="E6EBE2"/>
                          </a:solidFill>
                          <a:latin typeface="IBM Plex Sans" pitchFamily="34" charset="0"/>
                          <a:ea typeface="IBM Plex Sans" pitchFamily="34" charset="-122"/>
                          <a:cs typeface="IBM Plex Sans" pitchFamily="34" charset="-120"/>
                        </a:rPr>
                        <a:t>Welsh–Powell</a:t>
                      </a:r>
                      <a:endParaRPr lang="en-US" sz="2000" dirty="0">
                        <a:latin typeface="IBM Plex Sans" charset="0"/>
                        <a:ea typeface="IBM Plex Sans" charset="0"/>
                        <a:cs typeface="IBM Plex Sans" charset="0"/>
                      </a:endParaRPr>
                    </a:p>
                  </a:txBody>
                  <a:tcPr marL="190495" marR="190495" marT="101598" marB="101598" anchor="ctr">
                    <a:lnL w="12700" cap="flat" cmpd="sng" algn="ctr">
                      <a:solidFill>
                        <a:srgbClr val="1D2A25"/>
                      </a:solidFill>
                      <a:prstDash val="solid"/>
                      <a:round/>
                      <a:headEnd type="none" w="med" len="med"/>
                      <a:tailEnd type="none" w="med" len="med"/>
                    </a:lnL>
                    <a:lnR w="12700" cap="flat" cmpd="sng" algn="ctr">
                      <a:solidFill>
                        <a:srgbClr val="1D2A25"/>
                      </a:solidFill>
                      <a:prstDash val="solid"/>
                      <a:round/>
                      <a:headEnd type="none" w="med" len="med"/>
                      <a:tailEnd type="none" w="med" len="med"/>
                    </a:lnR>
                    <a:lnT w="12700" cap="flat" cmpd="sng" algn="ctr">
                      <a:solidFill>
                        <a:srgbClr val="535D59"/>
                      </a:solidFill>
                      <a:prstDash val="solid"/>
                      <a:round/>
                      <a:headEnd type="none" w="med" len="med"/>
                      <a:tailEnd type="none" w="med" len="med"/>
                    </a:lnT>
                    <a:lnB w="12700" cap="flat" cmpd="sng" algn="ctr">
                      <a:solidFill>
                        <a:srgbClr val="535D59"/>
                      </a:solidFill>
                      <a:prstDash val="solid"/>
                      <a:round/>
                      <a:headEnd type="none" w="med" len="med"/>
                      <a:tailEnd type="none" w="med" len="med"/>
                    </a:lnB>
                  </a:tcPr>
                </a:tc>
                <a:tc>
                  <a:txBody>
                    <a:bodyPr/>
                    <a:lstStyle/>
                    <a:p>
                      <a:pPr algn="l" indent="0" marL="0">
                        <a:buNone/>
                      </a:pPr>
                      <a:r>
                        <a:rPr lang="en-US" sz="2000" dirty="0">
                          <a:solidFill>
                            <a:srgbClr val="E6EBE2"/>
                          </a:solidFill>
                          <a:latin typeface="IBM Plex Sans" pitchFamily="34" charset="0"/>
                          <a:ea typeface="IBM Plex Sans" pitchFamily="34" charset="-122"/>
                          <a:cs typeface="IBM Plex Sans" pitchFamily="34" charset="-120"/>
                        </a:rPr>
                        <a:t>20</a:t>
                      </a:r>
                      <a:endParaRPr lang="en-US" sz="2000" dirty="0">
                        <a:latin typeface="IBM Plex Sans" charset="0"/>
                        <a:ea typeface="IBM Plex Sans" charset="0"/>
                        <a:cs typeface="IBM Plex Sans" charset="0"/>
                      </a:endParaRPr>
                    </a:p>
                  </a:txBody>
                  <a:tcPr marL="190495" marR="190495" marT="101598" marB="101598" anchor="ctr">
                    <a:lnL w="12700" cap="flat" cmpd="sng" algn="ctr">
                      <a:solidFill>
                        <a:srgbClr val="1D2A25"/>
                      </a:solidFill>
                      <a:prstDash val="solid"/>
                      <a:round/>
                      <a:headEnd type="none" w="med" len="med"/>
                      <a:tailEnd type="none" w="med" len="med"/>
                    </a:lnL>
                    <a:lnR w="12700" cap="flat" cmpd="sng" algn="ctr">
                      <a:solidFill>
                        <a:srgbClr val="1D2A25"/>
                      </a:solidFill>
                      <a:prstDash val="solid"/>
                      <a:round/>
                      <a:headEnd type="none" w="med" len="med"/>
                      <a:tailEnd type="none" w="med" len="med"/>
                    </a:lnR>
                    <a:lnT w="12700" cap="flat" cmpd="sng" algn="ctr">
                      <a:solidFill>
                        <a:srgbClr val="535D59"/>
                      </a:solidFill>
                      <a:prstDash val="solid"/>
                      <a:round/>
                      <a:headEnd type="none" w="med" len="med"/>
                      <a:tailEnd type="none" w="med" len="med"/>
                    </a:lnT>
                    <a:lnB w="12700" cap="flat" cmpd="sng" algn="ctr">
                      <a:solidFill>
                        <a:srgbClr val="535D59"/>
                      </a:solidFill>
                      <a:prstDash val="solid"/>
                      <a:round/>
                      <a:headEnd type="none" w="med" len="med"/>
                      <a:tailEnd type="none" w="med" len="med"/>
                    </a:lnB>
                  </a:tcPr>
                </a:tc>
                <a:tc>
                  <a:txBody>
                    <a:bodyPr/>
                    <a:lstStyle/>
                    <a:p>
                      <a:pPr algn="l" indent="0" marL="0">
                        <a:buNone/>
                      </a:pPr>
                      <a:r>
                        <a:rPr lang="en-US" sz="2000" dirty="0">
                          <a:solidFill>
                            <a:srgbClr val="E6EBE2"/>
                          </a:solidFill>
                          <a:latin typeface="IBM Plex Sans" pitchFamily="34" charset="0"/>
                          <a:ea typeface="IBM Plex Sans" pitchFamily="34" charset="-122"/>
                          <a:cs typeface="IBM Plex Sans" pitchFamily="34" charset="-120"/>
                        </a:rPr>
                        <a:t>0</a:t>
                      </a:r>
                      <a:endParaRPr lang="en-US" sz="2000" dirty="0">
                        <a:latin typeface="IBM Plex Sans" charset="0"/>
                        <a:ea typeface="IBM Plex Sans" charset="0"/>
                        <a:cs typeface="IBM Plex Sans" charset="0"/>
                      </a:endParaRPr>
                    </a:p>
                  </a:txBody>
                  <a:tcPr marL="190495" marR="190495" marT="101598" marB="101598" anchor="ctr">
                    <a:lnL w="12700" cap="flat" cmpd="sng" algn="ctr">
                      <a:solidFill>
                        <a:srgbClr val="1D2A25"/>
                      </a:solidFill>
                      <a:prstDash val="solid"/>
                      <a:round/>
                      <a:headEnd type="none" w="med" len="med"/>
                      <a:tailEnd type="none" w="med" len="med"/>
                    </a:lnL>
                    <a:lnR w="12700" cap="flat" cmpd="sng" algn="ctr">
                      <a:solidFill>
                        <a:srgbClr val="1D2A25"/>
                      </a:solidFill>
                      <a:prstDash val="solid"/>
                      <a:round/>
                      <a:headEnd type="none" w="med" len="med"/>
                      <a:tailEnd type="none" w="med" len="med"/>
                    </a:lnR>
                    <a:lnT w="12700" cap="flat" cmpd="sng" algn="ctr">
                      <a:solidFill>
                        <a:srgbClr val="535D59"/>
                      </a:solidFill>
                      <a:prstDash val="solid"/>
                      <a:round/>
                      <a:headEnd type="none" w="med" len="med"/>
                      <a:tailEnd type="none" w="med" len="med"/>
                    </a:lnT>
                    <a:lnB w="12700" cap="flat" cmpd="sng" algn="ctr">
                      <a:solidFill>
                        <a:srgbClr val="535D59"/>
                      </a:solidFill>
                      <a:prstDash val="solid"/>
                      <a:round/>
                      <a:headEnd type="none" w="med" len="med"/>
                      <a:tailEnd type="none" w="med" len="med"/>
                    </a:lnB>
                  </a:tcPr>
                </a:tc>
              </a:tr>
              <a:tr h="540927">
                <a:tc>
                  <a:txBody>
                    <a:bodyPr/>
                    <a:lstStyle/>
                    <a:p>
                      <a:pPr algn="l" indent="0" marL="0">
                        <a:buNone/>
                      </a:pPr>
                      <a:r>
                        <a:rPr lang="en-US" sz="2000" dirty="0">
                          <a:solidFill>
                            <a:srgbClr val="E6EBE2"/>
                          </a:solidFill>
                          <a:latin typeface="IBM Plex Sans" pitchFamily="34" charset="0"/>
                          <a:ea typeface="IBM Plex Sans" pitchFamily="34" charset="-122"/>
                          <a:cs typeface="IBM Plex Sans" pitchFamily="34" charset="-120"/>
                        </a:rPr>
                        <a:t>DSatur</a:t>
                      </a:r>
                      <a:endParaRPr lang="en-US" sz="2000" dirty="0">
                        <a:latin typeface="IBM Plex Sans" charset="0"/>
                        <a:ea typeface="IBM Plex Sans" charset="0"/>
                        <a:cs typeface="IBM Plex Sans" charset="0"/>
                      </a:endParaRPr>
                    </a:p>
                  </a:txBody>
                  <a:tcPr marL="190495" marR="190495" marT="101598" marB="101598" anchor="ctr">
                    <a:lnL w="12700" cap="flat" cmpd="sng" algn="ctr">
                      <a:solidFill>
                        <a:srgbClr val="1D2A25"/>
                      </a:solidFill>
                      <a:prstDash val="solid"/>
                      <a:round/>
                      <a:headEnd type="none" w="med" len="med"/>
                      <a:tailEnd type="none" w="med" len="med"/>
                    </a:lnL>
                    <a:lnR w="12700" cap="flat" cmpd="sng" algn="ctr">
                      <a:solidFill>
                        <a:srgbClr val="1D2A25"/>
                      </a:solidFill>
                      <a:prstDash val="solid"/>
                      <a:round/>
                      <a:headEnd type="none" w="med" len="med"/>
                      <a:tailEnd type="none" w="med" len="med"/>
                    </a:lnR>
                    <a:lnT w="12700" cap="flat" cmpd="sng" algn="ctr">
                      <a:solidFill>
                        <a:srgbClr val="535D59"/>
                      </a:solidFill>
                      <a:prstDash val="solid"/>
                      <a:round/>
                      <a:headEnd type="none" w="med" len="med"/>
                      <a:tailEnd type="none" w="med" len="med"/>
                    </a:lnT>
                    <a:lnB w="12700" cap="flat" cmpd="sng" algn="ctr">
                      <a:solidFill>
                        <a:srgbClr val="535D59"/>
                      </a:solidFill>
                      <a:prstDash val="solid"/>
                      <a:round/>
                      <a:headEnd type="none" w="med" len="med"/>
                      <a:tailEnd type="none" w="med" len="med"/>
                    </a:lnB>
                  </a:tcPr>
                </a:tc>
                <a:tc>
                  <a:txBody>
                    <a:bodyPr/>
                    <a:lstStyle/>
                    <a:p>
                      <a:pPr algn="l" indent="0" marL="0">
                        <a:buNone/>
                      </a:pPr>
                      <a:r>
                        <a:rPr lang="en-US" sz="2000" dirty="0">
                          <a:solidFill>
                            <a:srgbClr val="E6EBE2"/>
                          </a:solidFill>
                          <a:latin typeface="IBM Plex Sans" pitchFamily="34" charset="0"/>
                          <a:ea typeface="IBM Plex Sans" pitchFamily="34" charset="-122"/>
                          <a:cs typeface="IBM Plex Sans" pitchFamily="34" charset="-120"/>
                        </a:rPr>
                        <a:t>20</a:t>
                      </a:r>
                      <a:endParaRPr lang="en-US" sz="2000" dirty="0">
                        <a:latin typeface="IBM Plex Sans" charset="0"/>
                        <a:ea typeface="IBM Plex Sans" charset="0"/>
                        <a:cs typeface="IBM Plex Sans" charset="0"/>
                      </a:endParaRPr>
                    </a:p>
                  </a:txBody>
                  <a:tcPr marL="190495" marR="190495" marT="101598" marB="101598" anchor="ctr">
                    <a:lnL w="12700" cap="flat" cmpd="sng" algn="ctr">
                      <a:solidFill>
                        <a:srgbClr val="1D2A25"/>
                      </a:solidFill>
                      <a:prstDash val="solid"/>
                      <a:round/>
                      <a:headEnd type="none" w="med" len="med"/>
                      <a:tailEnd type="none" w="med" len="med"/>
                    </a:lnL>
                    <a:lnR w="12700" cap="flat" cmpd="sng" algn="ctr">
                      <a:solidFill>
                        <a:srgbClr val="1D2A25"/>
                      </a:solidFill>
                      <a:prstDash val="solid"/>
                      <a:round/>
                      <a:headEnd type="none" w="med" len="med"/>
                      <a:tailEnd type="none" w="med" len="med"/>
                    </a:lnR>
                    <a:lnT w="12700" cap="flat" cmpd="sng" algn="ctr">
                      <a:solidFill>
                        <a:srgbClr val="535D59"/>
                      </a:solidFill>
                      <a:prstDash val="solid"/>
                      <a:round/>
                      <a:headEnd type="none" w="med" len="med"/>
                      <a:tailEnd type="none" w="med" len="med"/>
                    </a:lnT>
                    <a:lnB w="12700" cap="flat" cmpd="sng" algn="ctr">
                      <a:solidFill>
                        <a:srgbClr val="535D59"/>
                      </a:solidFill>
                      <a:prstDash val="solid"/>
                      <a:round/>
                      <a:headEnd type="none" w="med" len="med"/>
                      <a:tailEnd type="none" w="med" len="med"/>
                    </a:lnB>
                  </a:tcPr>
                </a:tc>
                <a:tc>
                  <a:txBody>
                    <a:bodyPr/>
                    <a:lstStyle/>
                    <a:p>
                      <a:pPr algn="l" indent="0" marL="0">
                        <a:buNone/>
                      </a:pPr>
                      <a:r>
                        <a:rPr lang="en-US" sz="2000" dirty="0">
                          <a:solidFill>
                            <a:srgbClr val="E6EBE2"/>
                          </a:solidFill>
                          <a:latin typeface="IBM Plex Sans" pitchFamily="34" charset="0"/>
                          <a:ea typeface="IBM Plex Sans" pitchFamily="34" charset="-122"/>
                          <a:cs typeface="IBM Plex Sans" pitchFamily="34" charset="-120"/>
                        </a:rPr>
                        <a:t>0</a:t>
                      </a:r>
                      <a:endParaRPr lang="en-US" sz="2000" dirty="0">
                        <a:latin typeface="IBM Plex Sans" charset="0"/>
                        <a:ea typeface="IBM Plex Sans" charset="0"/>
                        <a:cs typeface="IBM Plex Sans" charset="0"/>
                      </a:endParaRPr>
                    </a:p>
                  </a:txBody>
                  <a:tcPr marL="190495" marR="190495" marT="101598" marB="101598" anchor="ctr">
                    <a:lnL w="12700" cap="flat" cmpd="sng" algn="ctr">
                      <a:solidFill>
                        <a:srgbClr val="1D2A25"/>
                      </a:solidFill>
                      <a:prstDash val="solid"/>
                      <a:round/>
                      <a:headEnd type="none" w="med" len="med"/>
                      <a:tailEnd type="none" w="med" len="med"/>
                    </a:lnL>
                    <a:lnR w="12700" cap="flat" cmpd="sng" algn="ctr">
                      <a:solidFill>
                        <a:srgbClr val="1D2A25"/>
                      </a:solidFill>
                      <a:prstDash val="solid"/>
                      <a:round/>
                      <a:headEnd type="none" w="med" len="med"/>
                      <a:tailEnd type="none" w="med" len="med"/>
                    </a:lnR>
                    <a:lnT w="12700" cap="flat" cmpd="sng" algn="ctr">
                      <a:solidFill>
                        <a:srgbClr val="535D59"/>
                      </a:solidFill>
                      <a:prstDash val="solid"/>
                      <a:round/>
                      <a:headEnd type="none" w="med" len="med"/>
                      <a:tailEnd type="none" w="med" len="med"/>
                    </a:lnT>
                    <a:lnB w="12700" cap="flat" cmpd="sng" algn="ctr">
                      <a:solidFill>
                        <a:srgbClr val="535D59"/>
                      </a:solidFill>
                      <a:prstDash val="solid"/>
                      <a:round/>
                      <a:headEnd type="none" w="med" len="med"/>
                      <a:tailEnd type="none" w="med" len="med"/>
                    </a:lnB>
                  </a:tcPr>
                </a:tc>
              </a:tr>
              <a:tr h="528227">
                <a:tc>
                  <a:txBody>
                    <a:bodyPr/>
                    <a:lstStyle/>
                    <a:p>
                      <a:pPr algn="l" indent="0" marL="0">
                        <a:buNone/>
                      </a:pPr>
                      <a:r>
                        <a:rPr lang="en-US" sz="2000" dirty="0">
                          <a:solidFill>
                            <a:srgbClr val="E6EBE2"/>
                          </a:solidFill>
                          <a:latin typeface="IBM Plex Sans" pitchFamily="34" charset="0"/>
                          <a:ea typeface="IBM Plex Sans" pitchFamily="34" charset="-122"/>
                          <a:cs typeface="IBM Plex Sans" pitchFamily="34" charset="-120"/>
                        </a:rPr>
                        <a:t>LOWERBOUND</a:t>
                      </a:r>
                      <a:endParaRPr lang="en-US" sz="2000" dirty="0">
                        <a:latin typeface="IBM Plex Sans" charset="0"/>
                        <a:ea typeface="IBM Plex Sans" charset="0"/>
                        <a:cs typeface="IBM Plex Sans" charset="0"/>
                      </a:endParaRPr>
                    </a:p>
                  </a:txBody>
                  <a:tcPr marL="190495" marR="190495" marT="101598" marB="101598" anchor="ctr">
                    <a:lnL w="12700" cap="flat" cmpd="sng" algn="ctr">
                      <a:solidFill>
                        <a:srgbClr val="1D2A25"/>
                      </a:solidFill>
                      <a:prstDash val="solid"/>
                      <a:round/>
                      <a:headEnd type="none" w="med" len="med"/>
                      <a:tailEnd type="none" w="med" len="med"/>
                    </a:lnL>
                    <a:lnR w="12700" cap="flat" cmpd="sng" algn="ctr">
                      <a:solidFill>
                        <a:srgbClr val="1D2A25"/>
                      </a:solidFill>
                      <a:prstDash val="solid"/>
                      <a:round/>
                      <a:headEnd type="none" w="med" len="med"/>
                      <a:tailEnd type="none" w="med" len="med"/>
                    </a:lnR>
                    <a:lnT w="12700" cap="flat" cmpd="sng" algn="ctr">
                      <a:solidFill>
                        <a:srgbClr val="535D59"/>
                      </a:solidFill>
                      <a:prstDash val="solid"/>
                      <a:round/>
                      <a:headEnd type="none" w="med" len="med"/>
                      <a:tailEnd type="none" w="med" len="med"/>
                    </a:lnT>
                    <a:lnB w="12700" cap="flat" cmpd="sng" algn="ctr">
                      <a:solidFill>
                        <a:srgbClr val="1D2A25"/>
                      </a:solidFill>
                      <a:prstDash val="solid"/>
                      <a:round/>
                      <a:headEnd type="none" w="med" len="med"/>
                      <a:tailEnd type="none" w="med" len="med"/>
                    </a:lnB>
                  </a:tcPr>
                </a:tc>
                <a:tc>
                  <a:txBody>
                    <a:bodyPr/>
                    <a:lstStyle/>
                    <a:p>
                      <a:pPr algn="l" indent="0" marL="0">
                        <a:buNone/>
                      </a:pPr>
                      <a:r>
                        <a:rPr lang="en-US" sz="2000" dirty="0">
                          <a:solidFill>
                            <a:srgbClr val="E6EBE2"/>
                          </a:solidFill>
                          <a:latin typeface="IBM Plex Sans" pitchFamily="34" charset="0"/>
                          <a:ea typeface="IBM Plex Sans" pitchFamily="34" charset="-122"/>
                          <a:cs typeface="IBM Plex Sans" pitchFamily="34" charset="-120"/>
                        </a:rPr>
                        <a:t>20</a:t>
                      </a:r>
                      <a:endParaRPr lang="en-US" sz="2000" dirty="0">
                        <a:latin typeface="IBM Plex Sans" charset="0"/>
                        <a:ea typeface="IBM Plex Sans" charset="0"/>
                        <a:cs typeface="IBM Plex Sans" charset="0"/>
                      </a:endParaRPr>
                    </a:p>
                  </a:txBody>
                  <a:tcPr marL="190495" marR="190495" marT="101598" marB="101598" anchor="ctr">
                    <a:lnL w="12700" cap="flat" cmpd="sng" algn="ctr">
                      <a:solidFill>
                        <a:srgbClr val="1D2A25"/>
                      </a:solidFill>
                      <a:prstDash val="solid"/>
                      <a:round/>
                      <a:headEnd type="none" w="med" len="med"/>
                      <a:tailEnd type="none" w="med" len="med"/>
                    </a:lnL>
                    <a:lnR w="12700" cap="flat" cmpd="sng" algn="ctr">
                      <a:solidFill>
                        <a:srgbClr val="1D2A25"/>
                      </a:solidFill>
                      <a:prstDash val="solid"/>
                      <a:round/>
                      <a:headEnd type="none" w="med" len="med"/>
                      <a:tailEnd type="none" w="med" len="med"/>
                    </a:lnR>
                    <a:lnT w="12700" cap="flat" cmpd="sng" algn="ctr">
                      <a:solidFill>
                        <a:srgbClr val="535D59"/>
                      </a:solidFill>
                      <a:prstDash val="solid"/>
                      <a:round/>
                      <a:headEnd type="none" w="med" len="med"/>
                      <a:tailEnd type="none" w="med" len="med"/>
                    </a:lnT>
                    <a:lnB w="12700" cap="flat" cmpd="sng" algn="ctr">
                      <a:solidFill>
                        <a:srgbClr val="1D2A25"/>
                      </a:solidFill>
                      <a:prstDash val="solid"/>
                      <a:round/>
                      <a:headEnd type="none" w="med" len="med"/>
                      <a:tailEnd type="none" w="med" len="med"/>
                    </a:lnB>
                  </a:tcPr>
                </a:tc>
                <a:tc>
                  <a:txBody>
                    <a:bodyPr/>
                    <a:lstStyle/>
                    <a:p>
                      <a:pPr algn="l" indent="0" marL="0">
                        <a:buNone/>
                      </a:pPr>
                      <a:r>
                        <a:rPr lang="en-US" sz="2000" dirty="0">
                          <a:solidFill>
                            <a:srgbClr val="E6EBE2"/>
                          </a:solidFill>
                          <a:latin typeface="IBM Plex Sans" pitchFamily="34" charset="0"/>
                          <a:ea typeface="IBM Plex Sans" pitchFamily="34" charset="-122"/>
                          <a:cs typeface="IBM Plex Sans" pitchFamily="34" charset="-120"/>
                        </a:rPr>
                        <a:t>0</a:t>
                      </a:r>
                      <a:endParaRPr lang="en-US" sz="2000" dirty="0">
                        <a:latin typeface="IBM Plex Sans" charset="0"/>
                        <a:ea typeface="IBM Plex Sans" charset="0"/>
                        <a:cs typeface="IBM Plex Sans" charset="0"/>
                      </a:endParaRPr>
                    </a:p>
                  </a:txBody>
                  <a:tcPr marL="190495" marR="190495" marT="101598" marB="101598" anchor="ctr">
                    <a:lnL w="12700" cap="flat" cmpd="sng" algn="ctr">
                      <a:solidFill>
                        <a:srgbClr val="1D2A25"/>
                      </a:solidFill>
                      <a:prstDash val="solid"/>
                      <a:round/>
                      <a:headEnd type="none" w="med" len="med"/>
                      <a:tailEnd type="none" w="med" len="med"/>
                    </a:lnL>
                    <a:lnR w="12700" cap="flat" cmpd="sng" algn="ctr">
                      <a:solidFill>
                        <a:srgbClr val="1D2A25"/>
                      </a:solidFill>
                      <a:prstDash val="solid"/>
                      <a:round/>
                      <a:headEnd type="none" w="med" len="med"/>
                      <a:tailEnd type="none" w="med" len="med"/>
                    </a:lnR>
                    <a:lnT w="12700" cap="flat" cmpd="sng" algn="ctr">
                      <a:solidFill>
                        <a:srgbClr val="535D59"/>
                      </a:solidFill>
                      <a:prstDash val="solid"/>
                      <a:round/>
                      <a:headEnd type="none" w="med" len="med"/>
                      <a:tailEnd type="none" w="med" len="med"/>
                    </a:lnT>
                    <a:lnB w="12700" cap="flat" cmpd="sng" algn="ctr">
                      <a:solidFill>
                        <a:srgbClr val="1D2A25"/>
                      </a:solidFill>
                      <a:prstDash val="solid"/>
                      <a:round/>
                      <a:headEnd type="none" w="med" len="med"/>
                      <a:tailEnd type="none" w="med" len="med"/>
                    </a:lnB>
                  </a:tcPr>
                </a:tc>
              </a:tr>
            </a:tbl>
          </a:graphicData>
        </a:graphic>
      </p:graphicFrame>
      <p:sp>
        <p:nvSpPr>
          <p:cNvPr id="5" name="Text 2"/>
          <p:cNvSpPr/>
          <p:nvPr/>
        </p:nvSpPr>
        <p:spPr>
          <a:xfrm>
            <a:off x="609585" y="4274641"/>
            <a:ext cx="5257668" cy="235645"/>
          </a:xfrm>
          <a:prstGeom prst="rect">
            <a:avLst/>
          </a:prstGeom>
          <a:noFill/>
          <a:ln/>
        </p:spPr>
        <p:txBody>
          <a:bodyPr wrap="none" lIns="0" tIns="0" rIns="0" bIns="0" rtlCol="0" anchor="t"/>
          <a:lstStyle/>
          <a:p>
            <a:pPr algn="l" indent="0" marL="0">
              <a:lnSpc>
                <a:spcPct val="107000"/>
              </a:lnSpc>
              <a:buNone/>
            </a:pPr>
            <a:r>
              <a:rPr lang="en-US" sz="1450" spc="116" kern="100" dirty="0">
                <a:solidFill>
                  <a:srgbClr val="F1CF55"/>
                </a:solidFill>
                <a:latin typeface="IBM Plex Sans" pitchFamily="34" charset="0"/>
                <a:ea typeface="IBM Plex Sans" pitchFamily="34" charset="-122"/>
                <a:cs typeface="IBM Plex Sans" pitchFamily="34" charset="-120"/>
              </a:rPr>
              <a:t>BEFORE → AFTER</a:t>
            </a:r>
            <a:endParaRPr lang="en-US" sz="1450" dirty="0"/>
          </a:p>
        </p:txBody>
      </p:sp>
      <p:graphicFrame>
        <p:nvGraphicFramePr>
          <p:cNvPr id="17" name="Table 1"/>
          <p:cNvGraphicFramePr>
            <a:graphicFrameLocks noGrp="1"/>
          </p:cNvGraphicFramePr>
          <p:nvPr>
            <p:extLst>
              <p:ext uri="{D42A27DB-BD31-4B8C-83A1-F6EECF244321}">
                <p14:modId xmlns:p14="http://schemas.microsoft.com/office/powerpoint/2010/main" val="1579011935"/>
              </p:ext>
            </p:extLst>
          </p:nvPr>
        </p:nvGraphicFramePr>
        <p:xfrm>
          <a:off x="609585" y="4602361"/>
          <a:ext cx="5257669" cy="914400"/>
        </p:xfrm>
        <a:graphic>
          <a:graphicData uri="http://schemas.openxmlformats.org/drawingml/2006/table">
            <a:tbl>
              <a:tblPr/>
              <a:tblGrid>
                <a:gridCol w="3049412"/>
                <a:gridCol w="2208257"/>
              </a:tblGrid>
              <a:tr h="540927">
                <a:tc>
                  <a:txBody>
                    <a:bodyPr/>
                    <a:lstStyle/>
                    <a:p>
                      <a:pPr algn="l" indent="0" marL="0">
                        <a:buNone/>
                      </a:pPr>
                      <a:r>
                        <a:rPr lang="en-US" sz="2000" dirty="0">
                          <a:solidFill>
                            <a:srgbClr val="E6EBE2"/>
                          </a:solidFill>
                          <a:latin typeface="IBM Plex Sans" pitchFamily="34" charset="0"/>
                          <a:ea typeface="IBM Plex Sans" pitchFamily="34" charset="-122"/>
                          <a:cs typeface="IBM Plex Sans" pitchFamily="34" charset="-120"/>
                        </a:rPr>
                        <a:t>Measure</a:t>
                      </a:r>
                      <a:endParaRPr lang="en-US" sz="2000" dirty="0">
                        <a:latin typeface="IBM Plex Sans" charset="0"/>
                        <a:ea typeface="IBM Plex Sans" charset="0"/>
                        <a:cs typeface="IBM Plex Sans" charset="0"/>
                      </a:endParaRPr>
                    </a:p>
                  </a:txBody>
                  <a:tcPr marL="190495" marR="190495" marT="101598" marB="101598" anchor="ctr">
                    <a:lnL w="12700" cap="flat" cmpd="sng" algn="ctr">
                      <a:solidFill>
                        <a:srgbClr val="1D2A25"/>
                      </a:solidFill>
                      <a:prstDash val="solid"/>
                      <a:round/>
                      <a:headEnd type="none" w="med" len="med"/>
                      <a:tailEnd type="none" w="med" len="med"/>
                    </a:lnL>
                    <a:lnR w="12700" cap="flat" cmpd="sng" algn="ctr">
                      <a:solidFill>
                        <a:srgbClr val="1D2A25"/>
                      </a:solidFill>
                      <a:prstDash val="solid"/>
                      <a:round/>
                      <a:headEnd type="none" w="med" len="med"/>
                      <a:tailEnd type="none" w="med" len="med"/>
                    </a:lnR>
                    <a:lnT w="12700" cap="flat" cmpd="sng" algn="ctr">
                      <a:solidFill>
                        <a:srgbClr val="1D2A25"/>
                      </a:solidFill>
                      <a:prstDash val="solid"/>
                      <a:round/>
                      <a:headEnd type="none" w="med" len="med"/>
                      <a:tailEnd type="none" w="med" len="med"/>
                    </a:lnT>
                    <a:lnB w="12700" cap="flat" cmpd="sng" algn="ctr">
                      <a:solidFill>
                        <a:srgbClr val="535D59"/>
                      </a:solidFill>
                      <a:prstDash val="solid"/>
                      <a:round/>
                      <a:headEnd type="none" w="med" len="med"/>
                      <a:tailEnd type="none" w="med" len="med"/>
                    </a:lnB>
                  </a:tcPr>
                </a:tc>
                <a:tc>
                  <a:txBody>
                    <a:bodyPr/>
                    <a:lstStyle/>
                    <a:p>
                      <a:pPr algn="l" indent="0" marL="0">
                        <a:buNone/>
                      </a:pPr>
                      <a:r>
                        <a:rPr lang="en-US" sz="2000" dirty="0">
                          <a:solidFill>
                            <a:srgbClr val="E6EBE2"/>
                          </a:solidFill>
                          <a:latin typeface="IBM Plex Sans" pitchFamily="34" charset="0"/>
                          <a:ea typeface="IBM Plex Sans" pitchFamily="34" charset="-122"/>
                          <a:cs typeface="IBM Plex Sans" pitchFamily="34" charset="-120"/>
                        </a:rPr>
                        <a:t>Result</a:t>
                      </a:r>
                      <a:endParaRPr lang="en-US" sz="2000" dirty="0">
                        <a:latin typeface="IBM Plex Sans" charset="0"/>
                        <a:ea typeface="IBM Plex Sans" charset="0"/>
                        <a:cs typeface="IBM Plex Sans" charset="0"/>
                      </a:endParaRPr>
                    </a:p>
                  </a:txBody>
                  <a:tcPr marL="190495" marR="190495" marT="101598" marB="101598" anchor="ctr">
                    <a:lnL w="12700" cap="flat" cmpd="sng" algn="ctr">
                      <a:solidFill>
                        <a:srgbClr val="1D2A25"/>
                      </a:solidFill>
                      <a:prstDash val="solid"/>
                      <a:round/>
                      <a:headEnd type="none" w="med" len="med"/>
                      <a:tailEnd type="none" w="med" len="med"/>
                    </a:lnL>
                    <a:lnR w="12700" cap="flat" cmpd="sng" algn="ctr">
                      <a:solidFill>
                        <a:srgbClr val="1D2A25"/>
                      </a:solidFill>
                      <a:prstDash val="solid"/>
                      <a:round/>
                      <a:headEnd type="none" w="med" len="med"/>
                      <a:tailEnd type="none" w="med" len="med"/>
                    </a:lnR>
                    <a:lnT w="12700" cap="flat" cmpd="sng" algn="ctr">
                      <a:solidFill>
                        <a:srgbClr val="1D2A25"/>
                      </a:solidFill>
                      <a:prstDash val="solid"/>
                      <a:round/>
                      <a:headEnd type="none" w="med" len="med"/>
                      <a:tailEnd type="none" w="med" len="med"/>
                    </a:lnT>
                    <a:lnB w="12700" cap="flat" cmpd="sng" algn="ctr">
                      <a:solidFill>
                        <a:srgbClr val="535D59"/>
                      </a:solidFill>
                      <a:prstDash val="solid"/>
                      <a:round/>
                      <a:headEnd type="none" w="med" len="med"/>
                      <a:tailEnd type="none" w="med" len="med"/>
                    </a:lnB>
                  </a:tcPr>
                </a:tc>
              </a:tr>
              <a:tr h="540927">
                <a:tc>
                  <a:txBody>
                    <a:bodyPr/>
                    <a:lstStyle/>
                    <a:p>
                      <a:pPr algn="l" indent="0" marL="0">
                        <a:buNone/>
                      </a:pPr>
                      <a:r>
                        <a:rPr lang="en-US" sz="2000" dirty="0">
                          <a:solidFill>
                            <a:srgbClr val="E6EBE2"/>
                          </a:solidFill>
                          <a:latin typeface="IBM Plex Sans" pitchFamily="34" charset="0"/>
                          <a:ea typeface="IBM Plex Sans" pitchFamily="34" charset="-122"/>
                          <a:cs typeface="IBM Plex Sans" pitchFamily="34" charset="-120"/>
                        </a:rPr>
                        <a:t>Rooms</a:t>
                      </a:r>
                      <a:endParaRPr lang="en-US" sz="2000" dirty="0">
                        <a:latin typeface="IBM Plex Sans" charset="0"/>
                        <a:ea typeface="IBM Plex Sans" charset="0"/>
                        <a:cs typeface="IBM Plex Sans" charset="0"/>
                      </a:endParaRPr>
                    </a:p>
                  </a:txBody>
                  <a:tcPr marL="190495" marR="190495" marT="101598" marB="101598" anchor="ctr">
                    <a:lnL w="12700" cap="flat" cmpd="sng" algn="ctr">
                      <a:solidFill>
                        <a:srgbClr val="1D2A25"/>
                      </a:solidFill>
                      <a:prstDash val="solid"/>
                      <a:round/>
                      <a:headEnd type="none" w="med" len="med"/>
                      <a:tailEnd type="none" w="med" len="med"/>
                    </a:lnL>
                    <a:lnR w="12700" cap="flat" cmpd="sng" algn="ctr">
                      <a:solidFill>
                        <a:srgbClr val="1D2A25"/>
                      </a:solidFill>
                      <a:prstDash val="solid"/>
                      <a:round/>
                      <a:headEnd type="none" w="med" len="med"/>
                      <a:tailEnd type="none" w="med" len="med"/>
                    </a:lnR>
                    <a:lnT w="12700" cap="flat" cmpd="sng" algn="ctr">
                      <a:solidFill>
                        <a:srgbClr val="535D59"/>
                      </a:solidFill>
                      <a:prstDash val="solid"/>
                      <a:round/>
                      <a:headEnd type="none" w="med" len="med"/>
                      <a:tailEnd type="none" w="med" len="med"/>
                    </a:lnT>
                    <a:lnB w="12700" cap="flat" cmpd="sng" algn="ctr">
                      <a:solidFill>
                        <a:srgbClr val="535D59"/>
                      </a:solidFill>
                      <a:prstDash val="solid"/>
                      <a:round/>
                      <a:headEnd type="none" w="med" len="med"/>
                      <a:tailEnd type="none" w="med" len="med"/>
                    </a:lnB>
                  </a:tcPr>
                </a:tc>
                <a:tc>
                  <a:txBody>
                    <a:bodyPr/>
                    <a:lstStyle/>
                    <a:p>
                      <a:pPr algn="l" indent="0" marL="0">
                        <a:buNone/>
                      </a:pPr>
                      <a:r>
                        <a:rPr lang="en-US" sz="2000" dirty="0">
                          <a:solidFill>
                            <a:srgbClr val="E6EBE2"/>
                          </a:solidFill>
                          <a:latin typeface="IBM Plex Sans" pitchFamily="34" charset="0"/>
                          <a:ea typeface="IBM Plex Sans" pitchFamily="34" charset="-122"/>
                          <a:cs typeface="IBM Plex Sans" pitchFamily="34" charset="-120"/>
                        </a:rPr>
                        <a:t>27 → 20</a:t>
                      </a:r>
                      <a:endParaRPr lang="en-US" sz="2000" dirty="0">
                        <a:latin typeface="IBM Plex Sans" charset="0"/>
                        <a:ea typeface="IBM Plex Sans" charset="0"/>
                        <a:cs typeface="IBM Plex Sans" charset="0"/>
                      </a:endParaRPr>
                    </a:p>
                  </a:txBody>
                  <a:tcPr marL="190495" marR="190495" marT="101598" marB="101598" anchor="ctr">
                    <a:lnL w="12700" cap="flat" cmpd="sng" algn="ctr">
                      <a:solidFill>
                        <a:srgbClr val="1D2A25"/>
                      </a:solidFill>
                      <a:prstDash val="solid"/>
                      <a:round/>
                      <a:headEnd type="none" w="med" len="med"/>
                      <a:tailEnd type="none" w="med" len="med"/>
                    </a:lnL>
                    <a:lnR w="12700" cap="flat" cmpd="sng" algn="ctr">
                      <a:solidFill>
                        <a:srgbClr val="1D2A25"/>
                      </a:solidFill>
                      <a:prstDash val="solid"/>
                      <a:round/>
                      <a:headEnd type="none" w="med" len="med"/>
                      <a:tailEnd type="none" w="med" len="med"/>
                    </a:lnR>
                    <a:lnT w="12700" cap="flat" cmpd="sng" algn="ctr">
                      <a:solidFill>
                        <a:srgbClr val="535D59"/>
                      </a:solidFill>
                      <a:prstDash val="solid"/>
                      <a:round/>
                      <a:headEnd type="none" w="med" len="med"/>
                      <a:tailEnd type="none" w="med" len="med"/>
                    </a:lnT>
                    <a:lnB w="12700" cap="flat" cmpd="sng" algn="ctr">
                      <a:solidFill>
                        <a:srgbClr val="535D59"/>
                      </a:solidFill>
                      <a:prstDash val="solid"/>
                      <a:round/>
                      <a:headEnd type="none" w="med" len="med"/>
                      <a:tailEnd type="none" w="med" len="med"/>
                    </a:lnB>
                  </a:tcPr>
                </a:tc>
              </a:tr>
              <a:tr h="540927">
                <a:tc>
                  <a:txBody>
                    <a:bodyPr/>
                    <a:lstStyle/>
                    <a:p>
                      <a:pPr algn="l" indent="0" marL="0">
                        <a:buNone/>
                      </a:pPr>
                      <a:r>
                        <a:rPr lang="en-US" sz="2000" dirty="0">
                          <a:solidFill>
                            <a:srgbClr val="E6EBE2"/>
                          </a:solidFill>
                          <a:latin typeface="IBM Plex Sans" pitchFamily="34" charset="0"/>
                          <a:ea typeface="IBM Plex Sans" pitchFamily="34" charset="-122"/>
                          <a:cs typeface="IBM Plex Sans" pitchFamily="34" charset="-120"/>
                        </a:rPr>
                        <a:t>Empty room-periods</a:t>
                      </a:r>
                      <a:endParaRPr lang="en-US" sz="2000" dirty="0">
                        <a:latin typeface="IBM Plex Sans" charset="0"/>
                        <a:ea typeface="IBM Plex Sans" charset="0"/>
                        <a:cs typeface="IBM Plex Sans" charset="0"/>
                      </a:endParaRPr>
                    </a:p>
                  </a:txBody>
                  <a:tcPr marL="190495" marR="190495" marT="101598" marB="101598" anchor="ctr">
                    <a:lnL w="12700" cap="flat" cmpd="sng" algn="ctr">
                      <a:solidFill>
                        <a:srgbClr val="1D2A25"/>
                      </a:solidFill>
                      <a:prstDash val="solid"/>
                      <a:round/>
                      <a:headEnd type="none" w="med" len="med"/>
                      <a:tailEnd type="none" w="med" len="med"/>
                    </a:lnL>
                    <a:lnR w="12700" cap="flat" cmpd="sng" algn="ctr">
                      <a:solidFill>
                        <a:srgbClr val="1D2A25"/>
                      </a:solidFill>
                      <a:prstDash val="solid"/>
                      <a:round/>
                      <a:headEnd type="none" w="med" len="med"/>
                      <a:tailEnd type="none" w="med" len="med"/>
                    </a:lnR>
                    <a:lnT w="12700" cap="flat" cmpd="sng" algn="ctr">
                      <a:solidFill>
                        <a:srgbClr val="535D59"/>
                      </a:solidFill>
                      <a:prstDash val="solid"/>
                      <a:round/>
                      <a:headEnd type="none" w="med" len="med"/>
                      <a:tailEnd type="none" w="med" len="med"/>
                    </a:lnT>
                    <a:lnB w="12700" cap="flat" cmpd="sng" algn="ctr">
                      <a:solidFill>
                        <a:srgbClr val="535D59"/>
                      </a:solidFill>
                      <a:prstDash val="solid"/>
                      <a:round/>
                      <a:headEnd type="none" w="med" len="med"/>
                      <a:tailEnd type="none" w="med" len="med"/>
                    </a:lnB>
                  </a:tcPr>
                </a:tc>
                <a:tc>
                  <a:txBody>
                    <a:bodyPr/>
                    <a:lstStyle/>
                    <a:p>
                      <a:pPr algn="l" indent="0" marL="0">
                        <a:buNone/>
                      </a:pPr>
                      <a:r>
                        <a:rPr lang="en-US" sz="2000" dirty="0">
                          <a:solidFill>
                            <a:srgbClr val="E6EBE2"/>
                          </a:solidFill>
                          <a:latin typeface="IBM Plex Sans" pitchFamily="34" charset="0"/>
                          <a:ea typeface="IBM Plex Sans" pitchFamily="34" charset="-122"/>
                          <a:cs typeface="IBM Plex Sans" pitchFamily="34" charset="-120"/>
                        </a:rPr>
                        <a:t>270 → 18</a:t>
                      </a:r>
                      <a:endParaRPr lang="en-US" sz="2000" dirty="0">
                        <a:latin typeface="IBM Plex Sans" charset="0"/>
                        <a:ea typeface="IBM Plex Sans" charset="0"/>
                        <a:cs typeface="IBM Plex Sans" charset="0"/>
                      </a:endParaRPr>
                    </a:p>
                  </a:txBody>
                  <a:tcPr marL="190495" marR="190495" marT="101598" marB="101598" anchor="ctr">
                    <a:lnL w="12700" cap="flat" cmpd="sng" algn="ctr">
                      <a:solidFill>
                        <a:srgbClr val="1D2A25"/>
                      </a:solidFill>
                      <a:prstDash val="solid"/>
                      <a:round/>
                      <a:headEnd type="none" w="med" len="med"/>
                      <a:tailEnd type="none" w="med" len="med"/>
                    </a:lnL>
                    <a:lnR w="12700" cap="flat" cmpd="sng" algn="ctr">
                      <a:solidFill>
                        <a:srgbClr val="1D2A25"/>
                      </a:solidFill>
                      <a:prstDash val="solid"/>
                      <a:round/>
                      <a:headEnd type="none" w="med" len="med"/>
                      <a:tailEnd type="none" w="med" len="med"/>
                    </a:lnR>
                    <a:lnT w="12700" cap="flat" cmpd="sng" algn="ctr">
                      <a:solidFill>
                        <a:srgbClr val="535D59"/>
                      </a:solidFill>
                      <a:prstDash val="solid"/>
                      <a:round/>
                      <a:headEnd type="none" w="med" len="med"/>
                      <a:tailEnd type="none" w="med" len="med"/>
                    </a:lnT>
                    <a:lnB w="12700" cap="flat" cmpd="sng" algn="ctr">
                      <a:solidFill>
                        <a:srgbClr val="535D59"/>
                      </a:solidFill>
                      <a:prstDash val="solid"/>
                      <a:round/>
                      <a:headEnd type="none" w="med" len="med"/>
                      <a:tailEnd type="none" w="med" len="med"/>
                    </a:lnB>
                  </a:tcPr>
                </a:tc>
              </a:tr>
              <a:tr h="528227">
                <a:tc>
                  <a:txBody>
                    <a:bodyPr/>
                    <a:lstStyle/>
                    <a:p>
                      <a:pPr algn="l" indent="0" marL="0">
                        <a:buNone/>
                      </a:pPr>
                      <a:r>
                        <a:rPr lang="en-US" sz="2000" dirty="0">
                          <a:solidFill>
                            <a:srgbClr val="E6EBE2"/>
                          </a:solidFill>
                          <a:latin typeface="IBM Plex Sans" pitchFamily="34" charset="0"/>
                          <a:ea typeface="IBM Plex Sans" pitchFamily="34" charset="-122"/>
                          <a:cs typeface="IBM Plex Sans" pitchFamily="34" charset="-120"/>
                        </a:rPr>
                        <a:t>Classrooms freed</a:t>
                      </a:r>
                      <a:endParaRPr lang="en-US" sz="2000" dirty="0">
                        <a:latin typeface="IBM Plex Sans" charset="0"/>
                        <a:ea typeface="IBM Plex Sans" charset="0"/>
                        <a:cs typeface="IBM Plex Sans" charset="0"/>
                      </a:endParaRPr>
                    </a:p>
                  </a:txBody>
                  <a:tcPr marL="190495" marR="190495" marT="101598" marB="101598" anchor="ctr">
                    <a:lnL w="12700" cap="flat" cmpd="sng" algn="ctr">
                      <a:solidFill>
                        <a:srgbClr val="1D2A25"/>
                      </a:solidFill>
                      <a:prstDash val="solid"/>
                      <a:round/>
                      <a:headEnd type="none" w="med" len="med"/>
                      <a:tailEnd type="none" w="med" len="med"/>
                    </a:lnL>
                    <a:lnR w="12700" cap="flat" cmpd="sng" algn="ctr">
                      <a:solidFill>
                        <a:srgbClr val="1D2A25"/>
                      </a:solidFill>
                      <a:prstDash val="solid"/>
                      <a:round/>
                      <a:headEnd type="none" w="med" len="med"/>
                      <a:tailEnd type="none" w="med" len="med"/>
                    </a:lnR>
                    <a:lnT w="12700" cap="flat" cmpd="sng" algn="ctr">
                      <a:solidFill>
                        <a:srgbClr val="535D59"/>
                      </a:solidFill>
                      <a:prstDash val="solid"/>
                      <a:round/>
                      <a:headEnd type="none" w="med" len="med"/>
                      <a:tailEnd type="none" w="med" len="med"/>
                    </a:lnT>
                    <a:lnB w="12700" cap="flat" cmpd="sng" algn="ctr">
                      <a:solidFill>
                        <a:srgbClr val="1D2A25"/>
                      </a:solidFill>
                      <a:prstDash val="solid"/>
                      <a:round/>
                      <a:headEnd type="none" w="med" len="med"/>
                      <a:tailEnd type="none" w="med" len="med"/>
                    </a:lnB>
                  </a:tcPr>
                </a:tc>
                <a:tc>
                  <a:txBody>
                    <a:bodyPr/>
                    <a:lstStyle/>
                    <a:p>
                      <a:pPr algn="l" indent="0" marL="0">
                        <a:buNone/>
                      </a:pPr>
                      <a:r>
                        <a:rPr lang="en-US" sz="2000" dirty="0">
                          <a:solidFill>
                            <a:srgbClr val="E6EBE2"/>
                          </a:solidFill>
                          <a:latin typeface="IBM Plex Sans" pitchFamily="34" charset="0"/>
                          <a:ea typeface="IBM Plex Sans" pitchFamily="34" charset="-122"/>
                          <a:cs typeface="IBM Plex Sans" pitchFamily="34" charset="-120"/>
                        </a:rPr>
                        <a:t>7</a:t>
                      </a:r>
                      <a:endParaRPr lang="en-US" sz="2000" dirty="0">
                        <a:latin typeface="IBM Plex Sans" charset="0"/>
                        <a:ea typeface="IBM Plex Sans" charset="0"/>
                        <a:cs typeface="IBM Plex Sans" charset="0"/>
                      </a:endParaRPr>
                    </a:p>
                  </a:txBody>
                  <a:tcPr marL="190495" marR="190495" marT="101598" marB="101598" anchor="ctr">
                    <a:lnL w="12700" cap="flat" cmpd="sng" algn="ctr">
                      <a:solidFill>
                        <a:srgbClr val="1D2A25"/>
                      </a:solidFill>
                      <a:prstDash val="solid"/>
                      <a:round/>
                      <a:headEnd type="none" w="med" len="med"/>
                      <a:tailEnd type="none" w="med" len="med"/>
                    </a:lnL>
                    <a:lnR w="12700" cap="flat" cmpd="sng" algn="ctr">
                      <a:solidFill>
                        <a:srgbClr val="1D2A25"/>
                      </a:solidFill>
                      <a:prstDash val="solid"/>
                      <a:round/>
                      <a:headEnd type="none" w="med" len="med"/>
                      <a:tailEnd type="none" w="med" len="med"/>
                    </a:lnR>
                    <a:lnT w="12700" cap="flat" cmpd="sng" algn="ctr">
                      <a:solidFill>
                        <a:srgbClr val="535D59"/>
                      </a:solidFill>
                      <a:prstDash val="solid"/>
                      <a:round/>
                      <a:headEnd type="none" w="med" len="med"/>
                      <a:tailEnd type="none" w="med" len="med"/>
                    </a:lnT>
                    <a:lnB w="12700" cap="flat" cmpd="sng" algn="ctr">
                      <a:solidFill>
                        <a:srgbClr val="1D2A25"/>
                      </a:solidFill>
                      <a:prstDash val="solid"/>
                      <a:round/>
                      <a:headEnd type="none" w="med" len="med"/>
                      <a:tailEnd type="none" w="med" len="med"/>
                    </a:lnB>
                  </a:tcPr>
                </a:tc>
              </a:tr>
            </a:tbl>
          </a:graphicData>
        </a:graphic>
      </p:graphicFrame>
      <p:sp>
        <p:nvSpPr>
          <p:cNvPr id="7" name="Text 3"/>
          <p:cNvSpPr/>
          <p:nvPr/>
        </p:nvSpPr>
        <p:spPr>
          <a:xfrm>
            <a:off x="6324442" y="1162844"/>
            <a:ext cx="5257668" cy="1392238"/>
          </a:xfrm>
          <a:prstGeom prst="rect">
            <a:avLst/>
          </a:prstGeom>
          <a:noFill/>
          <a:ln/>
        </p:spPr>
        <p:txBody>
          <a:bodyPr wrap="square" lIns="0" tIns="0" rIns="0" bIns="0" rtlCol="0" anchor="t">
            <a:normAutofit/>
          </a:bodyPr>
          <a:lstStyle/>
          <a:p>
            <a:pPr algn="l" indent="0" marL="0">
              <a:lnSpc>
                <a:spcPct val="107000"/>
              </a:lnSpc>
              <a:spcAft>
                <a:spcPts val="700"/>
              </a:spcAft>
              <a:buNone/>
            </a:pPr>
            <a:r>
              <a:rPr lang="en-US" sz="2000" b="1" dirty="0">
                <a:solidFill>
                  <a:srgbClr val="E6EBE2"/>
                </a:solidFill>
                <a:latin typeface="IBM Plex Sans Bold" pitchFamily="34" charset="0"/>
                <a:ea typeface="IBM Plex Sans Bold" pitchFamily="34" charset="-122"/>
                <a:cs typeface="IBM Plex Sans Bold" pitchFamily="34" charset="-120"/>
              </a:rPr>
              <a:t>Verification:</a:t>
            </a:r>
            <a:pPr algn="l" indent="0" marL="0">
              <a:lnSpc>
                <a:spcPct val="107000"/>
              </a:lnSpc>
              <a:spcAft>
                <a:spcPts val="700"/>
              </a:spcAft>
              <a:buNone/>
            </a:pPr>
            <a:r>
              <a:rPr lang="en-US" sz="2000" dirty="0">
                <a:solidFill>
                  <a:srgbClr val="E6EBE2"/>
                </a:solidFill>
                <a:latin typeface="IBM Plex Sans" pitchFamily="34" charset="0"/>
                <a:ea typeface="IBM Plex Sans" pitchFamily="34" charset="-122"/>
                <a:cs typeface="IBM Plex Sans" pitchFamily="34" charset="-120"/>
              </a:rPr>
              <a:t> all 702 classes placed with no section, teacher, or room clash.</a:t>
            </a:r>
            <a:endParaRPr lang="en-US" sz="2000" dirty="0"/>
          </a:p>
          <a:p>
            <a:pPr algn="l" indent="0" marL="0">
              <a:lnSpc>
                <a:spcPct val="107000"/>
              </a:lnSpc>
              <a:buNone/>
            </a:pPr>
            <a:r>
              <a:rPr lang="en-US" sz="2000" b="1" dirty="0">
                <a:solidFill>
                  <a:srgbClr val="F1CF55"/>
                </a:solidFill>
                <a:latin typeface="IBM Plex Sans Bold" pitchFamily="34" charset="0"/>
                <a:ea typeface="IBM Plex Sans Bold" pitchFamily="34" charset="-122"/>
                <a:cs typeface="IBM Plex Sans Bold" pitchFamily="34" charset="-120"/>
              </a:rPr>
              <a:t>Feasible + rooms = lower bound → OPTIMAL.</a:t>
            </a:r>
            <a:endParaRPr lang="en-US" sz="2000" dirty="0"/>
          </a:p>
        </p:txBody>
      </p:sp>
      <p:sp>
        <p:nvSpPr>
          <p:cNvPr id="8" name="Text 4"/>
          <p:cNvSpPr/>
          <p:nvPr/>
        </p:nvSpPr>
        <p:spPr>
          <a:xfrm>
            <a:off x="6324442" y="4380706"/>
            <a:ext cx="5257668" cy="235645"/>
          </a:xfrm>
          <a:prstGeom prst="rect">
            <a:avLst/>
          </a:prstGeom>
          <a:noFill/>
          <a:ln/>
        </p:spPr>
        <p:txBody>
          <a:bodyPr wrap="none" lIns="0" tIns="0" rIns="0" bIns="0" rtlCol="0" anchor="t"/>
          <a:lstStyle/>
          <a:p>
            <a:pPr algn="l" indent="0" marL="0">
              <a:lnSpc>
                <a:spcPct val="107000"/>
              </a:lnSpc>
              <a:buNone/>
            </a:pPr>
            <a:r>
              <a:rPr lang="en-US" sz="1450" spc="116" kern="100" dirty="0">
                <a:solidFill>
                  <a:srgbClr val="F1CF55"/>
                </a:solidFill>
                <a:latin typeface="IBM Plex Sans" pitchFamily="34" charset="0"/>
                <a:ea typeface="IBM Plex Sans" pitchFamily="34" charset="-122"/>
                <a:cs typeface="IBM Plex Sans" pitchFamily="34" charset="-120"/>
              </a:rPr>
              <a:t>INCREMENTAL REPAIR</a:t>
            </a:r>
            <a:endParaRPr lang="en-US" sz="1450" dirty="0"/>
          </a:p>
        </p:txBody>
      </p:sp>
      <p:sp>
        <p:nvSpPr>
          <p:cNvPr id="9" name="Text 5"/>
          <p:cNvSpPr/>
          <p:nvPr/>
        </p:nvSpPr>
        <p:spPr>
          <a:xfrm>
            <a:off x="6324442" y="4708426"/>
            <a:ext cx="5257668" cy="975122"/>
          </a:xfrm>
          <a:prstGeom prst="rect">
            <a:avLst/>
          </a:prstGeom>
          <a:noFill/>
          <a:ln/>
        </p:spPr>
        <p:txBody>
          <a:bodyPr wrap="square" lIns="0" tIns="0" rIns="0" bIns="0" rtlCol="0" anchor="t">
            <a:normAutofit/>
          </a:bodyPr>
          <a:lstStyle/>
          <a:p>
            <a:pPr algn="l" indent="0" marL="0">
              <a:lnSpc>
                <a:spcPct val="107000"/>
              </a:lnSpc>
              <a:buNone/>
            </a:pPr>
            <a:r>
              <a:rPr lang="en-US" sz="2000" dirty="0">
                <a:solidFill>
                  <a:srgbClr val="E6EBE2"/>
                </a:solidFill>
                <a:latin typeface="IBM Plex Sans" pitchFamily="34" charset="0"/>
                <a:ea typeface="IBM Plex Sans" pitchFamily="34" charset="-122"/>
                <a:cs typeface="IBM Plex Sans" pitchFamily="34" charset="-120"/>
              </a:rPr>
              <a:t>When Dr. Harish Kumar is absent on Monday: 4 classes affected, 5 moved, 697 untouched, still 20 rooms, verified.</a:t>
            </a:r>
            <a:endParaRPr lang="en-US" sz="2000" dirty="0"/>
          </a:p>
        </p:txBody>
      </p:sp>
      <p:sp>
        <p:nvSpPr>
          <p:cNvPr id="10" name="Text 6"/>
          <p:cNvSpPr/>
          <p:nvPr/>
        </p:nvSpPr>
        <p:spPr>
          <a:xfrm>
            <a:off x="6324442" y="5775623"/>
            <a:ext cx="5257668" cy="235645"/>
          </a:xfrm>
          <a:prstGeom prst="rect">
            <a:avLst/>
          </a:prstGeom>
          <a:noFill/>
          <a:ln/>
        </p:spPr>
        <p:txBody>
          <a:bodyPr wrap="none" lIns="0" tIns="0" rIns="0" bIns="0" rtlCol="0" anchor="t"/>
          <a:lstStyle/>
          <a:p>
            <a:pPr algn="l" indent="0" marL="0">
              <a:lnSpc>
                <a:spcPct val="107000"/>
              </a:lnSpc>
              <a:buNone/>
            </a:pPr>
            <a:r>
              <a:rPr lang="en-US" sz="1450" spc="116" kern="100" dirty="0">
                <a:solidFill>
                  <a:srgbClr val="F1CF55"/>
                </a:solidFill>
                <a:latin typeface="IBM Plex Sans" pitchFamily="34" charset="0"/>
                <a:ea typeface="IBM Plex Sans" pitchFamily="34" charset="-122"/>
                <a:cs typeface="IBM Plex Sans" pitchFamily="34" charset="-120"/>
              </a:rPr>
              <a:t>LIMITATIONS</a:t>
            </a:r>
            <a:endParaRPr lang="en-US" sz="1450" dirty="0"/>
          </a:p>
        </p:txBody>
      </p:sp>
      <p:sp>
        <p:nvSpPr>
          <p:cNvPr id="11" name="Text 7"/>
          <p:cNvSpPr/>
          <p:nvPr/>
        </p:nvSpPr>
        <p:spPr>
          <a:xfrm>
            <a:off x="6324442" y="6103342"/>
            <a:ext cx="5257668" cy="650081"/>
          </a:xfrm>
          <a:prstGeom prst="rect">
            <a:avLst/>
          </a:prstGeom>
          <a:noFill/>
          <a:ln/>
        </p:spPr>
        <p:txBody>
          <a:bodyPr wrap="square" lIns="0" tIns="0" rIns="0" bIns="0" rtlCol="0" anchor="t">
            <a:normAutofit/>
          </a:bodyPr>
          <a:lstStyle/>
          <a:p>
            <a:pPr algn="l" indent="0" marL="0">
              <a:lnSpc>
                <a:spcPct val="107000"/>
              </a:lnSpc>
              <a:buNone/>
            </a:pPr>
            <a:r>
              <a:rPr lang="en-US" sz="2000" dirty="0">
                <a:solidFill>
                  <a:srgbClr val="E6EBE2"/>
                </a:solidFill>
                <a:latin typeface="IBM Plex Sans" pitchFamily="34" charset="0"/>
                <a:ea typeface="IBM Plex Sans" pitchFamily="34" charset="-122"/>
                <a:cs typeface="IBM Plex Sans" pitchFamily="34" charset="-120"/>
              </a:rPr>
              <a:t>Room capacity is not modelled; labs are single periods.</a:t>
            </a:r>
            <a:endParaRPr lang="en-US" sz="2000" dirty="0"/>
          </a:p>
        </p:txBody>
      </p:sp>
      <p:sp>
        <p:nvSpPr>
          <p:cNvPr id="12" name="Text 8"/>
          <p:cNvSpPr/>
          <p:nvPr/>
        </p:nvSpPr>
        <p:spPr>
          <a:xfrm>
            <a:off x="11475354" y="6528296"/>
            <a:ext cx="716341" cy="227509"/>
          </a:xfrm>
          <a:prstGeom prst="rect">
            <a:avLst/>
          </a:prstGeom>
          <a:noFill/>
          <a:ln/>
        </p:spPr>
        <p:txBody>
          <a:bodyPr wrap="none" lIns="0" tIns="0" rIns="0" bIns="0" rtlCol="0" anchor="ctr"/>
          <a:lstStyle/>
          <a:p>
            <a:pPr algn="l" indent="0" marL="0">
              <a:lnSpc>
                <a:spcPct val="107000"/>
              </a:lnSpc>
              <a:buNone/>
            </a:pPr>
            <a:r>
              <a:rPr lang="en-US" sz="1400" dirty="0">
                <a:solidFill>
                  <a:srgbClr val="E6EBE2"/>
                </a:solidFill>
                <a:latin typeface="IBM Plex Sans" pitchFamily="34" charset="0"/>
                <a:ea typeface="IBM Plex Sans" pitchFamily="34" charset="-122"/>
                <a:cs typeface="IBM Plex Sans" pitchFamily="34" charset="-120"/>
              </a:rPr>
              <a:t>8</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2026-10-03T04:37:41Z</dcterms:created>
  <dcterms:modified xsi:type="dcterms:W3CDTF">2026-10-03T04:37:41Z</dcterms:modified>
</cp:coreProperties>
</file>